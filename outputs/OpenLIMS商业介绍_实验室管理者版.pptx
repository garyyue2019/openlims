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481d319df41c5" /><Relationship Type="http://schemas.openxmlformats.org/officeDocument/2006/relationships/extended-properties" Target="/docProps/app.xml" Id="R499b5cfaf8774c10" /><Relationship Type="http://schemas.openxmlformats.org/officeDocument/2006/relationships/officeDocument" Target="/ppt/presentation.xml" Id="Re10737c04368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0a6920ca144cb"/>
  </p:sldMasterIdLst>
  <p:notesMasterIdLst>
    <p:notesMasterId xmlns:r="http://schemas.openxmlformats.org/officeDocument/2006/relationships" r:id="R1a341b61cc364df7"/>
  </p:notesMasterIdLst>
  <p:sldIdLst>
    <p:sldId xmlns:r="http://schemas.openxmlformats.org/officeDocument/2006/relationships" id="256" r:id="R4af5131006324880"/>
    <p:sldId xmlns:r="http://schemas.openxmlformats.org/officeDocument/2006/relationships" id="257" r:id="R4e254798fc2c4e43"/>
    <p:sldId xmlns:r="http://schemas.openxmlformats.org/officeDocument/2006/relationships" id="258" r:id="R01389c6c164f4970"/>
    <p:sldId xmlns:r="http://schemas.openxmlformats.org/officeDocument/2006/relationships" id="259" r:id="R11651e767cc742c4"/>
    <p:sldId xmlns:r="http://schemas.openxmlformats.org/officeDocument/2006/relationships" id="260" r:id="R2af2c91e42d8453b"/>
    <p:sldId xmlns:r="http://schemas.openxmlformats.org/officeDocument/2006/relationships" id="261" r:id="Rcd51783c64704f9d"/>
    <p:sldId xmlns:r="http://schemas.openxmlformats.org/officeDocument/2006/relationships" id="262" r:id="R611fa3191bea492d"/>
    <p:sldId xmlns:r="http://schemas.openxmlformats.org/officeDocument/2006/relationships" id="263" r:id="Rcdd22c5cdc8c4a21"/>
    <p:sldId xmlns:r="http://schemas.openxmlformats.org/officeDocument/2006/relationships" id="264" r:id="Rc24481bc587f4888"/>
    <p:sldId xmlns:r="http://schemas.openxmlformats.org/officeDocument/2006/relationships" id="265" r:id="R038dae4ea2bf4875"/>
    <p:sldId xmlns:r="http://schemas.openxmlformats.org/officeDocument/2006/relationships" id="266" r:id="R6168aae7112a4136"/>
    <p:sldId xmlns:r="http://schemas.openxmlformats.org/officeDocument/2006/relationships" id="267" r:id="R0be0bba86f634b1d"/>
    <p:sldId xmlns:r="http://schemas.openxmlformats.org/officeDocument/2006/relationships" id="268" r:id="R55b02ee79b364f3f"/>
    <p:sldId xmlns:r="http://schemas.openxmlformats.org/officeDocument/2006/relationships" id="269" r:id="R4531e760f9a746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bf0f4e30594912" /><Relationship Type="http://schemas.openxmlformats.org/officeDocument/2006/relationships/slideMaster" Target="/ppt/slideMasters/slideMaster1.xml" Id="R3e30a6920ca144cb" /><Relationship Type="http://schemas.openxmlformats.org/officeDocument/2006/relationships/notesMaster" Target="/ppt/notesMasters/notesMaster1.xml" Id="R1a341b61cc364df7" /><Relationship Type="http://schemas.openxmlformats.org/officeDocument/2006/relationships/presProps" Target="/ppt/presProps.xml" Id="R8c42930b9fe04124" /><Relationship Type="http://schemas.openxmlformats.org/officeDocument/2006/relationships/tableStyles" Target="/ppt/tableStyles.xml" Id="R7ad30524b83f4449" /><Relationship Type="http://schemas.openxmlformats.org/officeDocument/2006/relationships/slide" Target="/ppt/slides/slide1.xml" Id="R4af5131006324880" /><Relationship Type="http://schemas.openxmlformats.org/officeDocument/2006/relationships/slide" Target="/ppt/slides/slide2.xml" Id="R4e254798fc2c4e43" /><Relationship Type="http://schemas.openxmlformats.org/officeDocument/2006/relationships/slide" Target="/ppt/slides/slide3.xml" Id="R01389c6c164f4970" /><Relationship Type="http://schemas.openxmlformats.org/officeDocument/2006/relationships/slide" Target="/ppt/slides/slide4.xml" Id="R11651e767cc742c4" /><Relationship Type="http://schemas.openxmlformats.org/officeDocument/2006/relationships/slide" Target="/ppt/slides/slide5.xml" Id="R2af2c91e42d8453b" /><Relationship Type="http://schemas.openxmlformats.org/officeDocument/2006/relationships/slide" Target="/ppt/slides/slide6.xml" Id="Rcd51783c64704f9d" /><Relationship Type="http://schemas.openxmlformats.org/officeDocument/2006/relationships/slide" Target="/ppt/slides/slide7.xml" Id="R611fa3191bea492d" /><Relationship Type="http://schemas.openxmlformats.org/officeDocument/2006/relationships/slide" Target="/ppt/slides/slide8.xml" Id="Rcdd22c5cdc8c4a21" /><Relationship Type="http://schemas.openxmlformats.org/officeDocument/2006/relationships/slide" Target="/ppt/slides/slide9.xml" Id="Rc24481bc587f4888" /><Relationship Type="http://schemas.openxmlformats.org/officeDocument/2006/relationships/slide" Target="/ppt/slides/slide10.xml" Id="R038dae4ea2bf4875" /><Relationship Type="http://schemas.openxmlformats.org/officeDocument/2006/relationships/slide" Target="/ppt/slides/slide11.xml" Id="R6168aae7112a4136" /><Relationship Type="http://schemas.openxmlformats.org/officeDocument/2006/relationships/slide" Target="/ppt/slides/slide12.xml" Id="R0be0bba86f634b1d" /><Relationship Type="http://schemas.openxmlformats.org/officeDocument/2006/relationships/slide" Target="/ppt/slides/slide13.xml" Id="R55b02ee79b364f3f" /><Relationship Type="http://schemas.openxmlformats.org/officeDocument/2006/relationships/slide" Target="/ppt/slides/slide14.xml" Id="R4531e760f9a7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a7e3cc819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54b5caf0e423b" /><Relationship Type="http://schemas.openxmlformats.org/officeDocument/2006/relationships/notesMaster" Target="/ppt/notesMasters/notesMaster1.xml" Id="R3be251ea54f946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fc273d9934c03" /><Relationship Type="http://schemas.openxmlformats.org/officeDocument/2006/relationships/notesMaster" Target="/ppt/notesMasters/notesMaster1.xml" Id="Rf1457970be484c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74b6a05d64f99" /><Relationship Type="http://schemas.openxmlformats.org/officeDocument/2006/relationships/notesMaster" Target="/ppt/notesMasters/notesMaster1.xml" Id="R15084b290bdb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6f125ad774233" /><Relationship Type="http://schemas.openxmlformats.org/officeDocument/2006/relationships/notesMaster" Target="/ppt/notesMasters/notesMaster1.xml" Id="Ra0834f765101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24d5afd5d4ae6" /><Relationship Type="http://schemas.openxmlformats.org/officeDocument/2006/relationships/notesMaster" Target="/ppt/notesMasters/notesMaster1.xml" Id="R0563e7c21917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46457ce4ef458b" /><Relationship Type="http://schemas.openxmlformats.org/officeDocument/2006/relationships/notesMaster" Target="/ppt/notesMasters/notesMaster1.xml" Id="R5cdf846043ca4e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95c6d55c4341ff" /><Relationship Type="http://schemas.openxmlformats.org/officeDocument/2006/relationships/notesMaster" Target="/ppt/notesMasters/notesMaster1.xml" Id="R25b6a70fb93b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b5c8e2e5b14601" /><Relationship Type="http://schemas.openxmlformats.org/officeDocument/2006/relationships/notesMaster" Target="/ppt/notesMasters/notesMaster1.xml" Id="Re9e1574b10b4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02d5f8527443c" /><Relationship Type="http://schemas.openxmlformats.org/officeDocument/2006/relationships/notesMaster" Target="/ppt/notesMasters/notesMaster1.xml" Id="R7802327252b648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1b48d4484c4315" /><Relationship Type="http://schemas.openxmlformats.org/officeDocument/2006/relationships/notesMaster" Target="/ppt/notesMasters/notesMaster1.xml" Id="R7c516150c02047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af11bea3f7461a" /><Relationship Type="http://schemas.openxmlformats.org/officeDocument/2006/relationships/notesMaster" Target="/ppt/notesMasters/notesMaster1.xml" Id="Rf1b6791737f440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5fc157fa742fd" /><Relationship Type="http://schemas.openxmlformats.org/officeDocument/2006/relationships/notesMaster" Target="/ppt/notesMasters/notesMaster1.xml" Id="R5a89ea27762647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ef0cb9bc174a8d" /><Relationship Type="http://schemas.openxmlformats.org/officeDocument/2006/relationships/notesMaster" Target="/ppt/notesMasters/notesMaster1.xml" Id="R39abd2f1a6cb40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e34cf4d4ce42e4" /><Relationship Type="http://schemas.openxmlformats.org/officeDocument/2006/relationships/notesMaster" Target="/ppt/notesMasters/notesMaster1.xml" Id="R946e626820eb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286148c5e4c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1a036c00db48da" /><Relationship Type="http://schemas.openxmlformats.org/officeDocument/2006/relationships/slideLayout" Target="/ppt/slideLayouts/slideLayout1.xml" Id="R439e6ba1278a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e6ba1278a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8bc8328c54b5d" /><Relationship Type="http://schemas.openxmlformats.org/officeDocument/2006/relationships/notesSlide" Target="/ppt/notesSlides/notesSlide1.xml" Id="R936c4c5ed7414a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c3ef9f10e48f2" /><Relationship Type="http://schemas.openxmlformats.org/officeDocument/2006/relationships/notesSlide" Target="/ppt/notesSlides/notesSlide2.xml" Id="R21c24c21f494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630f2b69a4868" /><Relationship Type="http://schemas.openxmlformats.org/officeDocument/2006/relationships/notesSlide" Target="/ppt/notesSlides/notesSlide3.xml" Id="R2f15924790e6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ae891fb748d8" /><Relationship Type="http://schemas.openxmlformats.org/officeDocument/2006/relationships/notesSlide" Target="/ppt/notesSlides/notesSlide4.xml" Id="R3a45d9fabcf7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047b9d1d451e" /><Relationship Type="http://schemas.openxmlformats.org/officeDocument/2006/relationships/notesSlide" Target="/ppt/notesSlides/notesSlide5.xml" Id="Rafac8cc3d56f46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ea192a4f64f38" /><Relationship Type="http://schemas.openxmlformats.org/officeDocument/2006/relationships/notesSlide" Target="/ppt/notesSlides/notesSlide6.xml" Id="R05869df905fc46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a93993f7b4983" /><Relationship Type="http://schemas.openxmlformats.org/officeDocument/2006/relationships/notesSlide" Target="/ppt/notesSlides/notesSlide7.xml" Id="R505aea1b83244e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a5b457c434b0d" /><Relationship Type="http://schemas.openxmlformats.org/officeDocument/2006/relationships/notesSlide" Target="/ppt/notesSlides/notesSlide8.xml" Id="Rbb4f82a9dcfc43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cf3c1eaaf4e5f" /><Relationship Type="http://schemas.openxmlformats.org/officeDocument/2006/relationships/notesSlide" Target="/ppt/notesSlides/notesSlide9.xml" Id="R434f44fa0d2948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caeb64db94edf" /><Relationship Type="http://schemas.openxmlformats.org/officeDocument/2006/relationships/notesSlide" Target="/ppt/notesSlides/notesSlide10.xml" Id="Rffee61bc16b049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bea1656c47ad" /><Relationship Type="http://schemas.openxmlformats.org/officeDocument/2006/relationships/notesSlide" Target="/ppt/notesSlides/notesSlide11.xml" Id="R9c9b1025c3da4f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de4f5ecf4901" /><Relationship Type="http://schemas.openxmlformats.org/officeDocument/2006/relationships/notesSlide" Target="/ppt/notesSlides/notesSlide12.xml" Id="Rb31b2229de1c42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6adbcc434b60" /><Relationship Type="http://schemas.openxmlformats.org/officeDocument/2006/relationships/notesSlide" Target="/ppt/notesSlides/notesSlide13.xml" Id="R1511461c801441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4b98d4684afd" /><Relationship Type="http://schemas.openxmlformats.org/officeDocument/2006/relationships/notesSlide" Target="/ppt/notesSlides/notesSlide14.xml" Id="R8d24235def33496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12F33-69B6-4680-BF81-1C173424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B8FB4-2F71-4798-B3F4-CBD6956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01725-B030-4932-A65F-FFD05E28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6BF48-997C-46BB-B293-1E76267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E25BA-C88F-4A12-9479-81E314A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5300"/>
            <a:ext cx="2266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8000"/>
            </a:srgbClr>
          </a:solidFill>
          <a:ln xmlns:a="http://schemas.openxmlformats.org/drawingml/2006/main" w="9525">
            <a:solidFill>
              <a:srgbClr val="55D6E8">
                <a:alpha val="2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8C293-6437-4F22-B98A-5787139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AI 原生 · 第三方产品检测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B56CC-6332-41BB-9B06-24DD5F7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OpenLIMS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F8BCE-398C-4FD2-84BE-6876B46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28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87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把检测交付变成</a:t>
            </a:r>
          </a:p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可预测、可复制、可审计的经营能力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5519B-10F4-42CE-A9AF-FCDD790B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不是“样品登记系统”，而是连接商业承诺、检测生产、质量证据与经营结果的操作系统。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6CCC2-17A1-48A8-8BCC-15B79F7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D6E8">
                <a:alpha val="5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C5B6-0280-4C64-A864-A6786AEA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3210F-C36A-4657-9129-6913E274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B2199-8CAD-49C3-B262-A8866E9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报价与范围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B00FC-9859-40B0-872B-23056A7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7F947-C4F8-4DE9-9643-857751D4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B105F-603A-4417-8E27-53301295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57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身份与代表性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BD221-53FC-49F4-BD29-2F792C69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BFC6E-539F-47C2-A1BE-0772A9BE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34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C04F0-5F8A-4A65-AFDF-0F0AD971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57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资源与证据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6F1F4-114C-4493-BB49-B47DFA01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BDC68-4573-4465-A26E-FA9D745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349C9-A7D5-4FEC-864C-60A6ED47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57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复核与签发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710DB-EDE5-42AB-94EF-FB06B84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1504950"/>
            <a:ext cx="2076450" cy="342900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BD578-4130-44D8-9DC3-40BD74D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62150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C2CB8-A8B2-4755-AFB7-28B806A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个经营结果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16E56-F712-4039-993D-FAB611C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C0016-33B2-4225-A294-A7F0191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赢单</a:t>
            </a:r>
          </a:p>
          <a:p xmlns:a="http://schemas.openxmlformats.org/drawingml/2006/main">
            <a:pPr algn="ctr">
              <a:def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提产</a:t>
            </a:r>
          </a:p>
          <a:p xmlns:a="http://schemas.openxmlformats.org/drawingml/2006/main">
            <a:pPr algn="ctr">
              <a:def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降错</a:t>
            </a:r>
          </a:p>
          <a:p xmlns:a="http://schemas.openxmlformats.org/drawingml/2006/main">
            <a:pPr algn="ctr">
              <a:def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控险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38128-EFE5-49F9-B52E-1FF4C3C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rPr>
              <a:t>适用于电子电器 · 食品接触材料 · 玩具婴童 · 纺织品 · 汽车零件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493AF-6D06-4BB4-8FDD-32AE9465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912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669351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946755-883A-4A00-B8C6-959B28A2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4AC4-E16D-480F-BD7C-EC213AD0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3F52-4616-467E-B535-F70029DD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C7F42-A0B1-401D-8A6B-AA34E73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经营挑战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6711-90F5-4332-96AF-89C8DA8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实验室增长的瓶颈，往往是订单在部门之间失真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3A66B-74F6-40FA-BCAE-1EFA234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设备能力可能足够，但跨部门交接仍在制造等待、返工与不可见风险。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8E6F-D61A-4852-B421-A9103C1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5EE5B-5418-4702-9101-FCE22B5F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AD2FE-4F56-4353-8745-DE9F79BC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B5B1A-9FE7-419D-828E-D862879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D7F35-1275-4656-AFC7-F6FCBA2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2BA14-F1BF-449A-A7C7-153EEB85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DAAD7-E4F4-45F3-AA67-F2A80E8D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95E24-A1FC-45CC-B4DF-70EEC4B5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E67A7-8E05-4D2D-BA7B-C277DBF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资料不完整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466AB-719C-4F9F-870E-BC20CDF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2214F-681F-4B02-B9A6-FC105CD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反复补问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38EFA-6FCD-4BFA-A91C-5246EDE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B5266-E8BE-46BE-9441-E8EA854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06469-D872-4FA2-96C3-DEDE61D5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41497-E789-4AF5-9C3E-E2EDD751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BFAA0-10DC-47CA-A5A3-DB880696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E3B5B-F2BC-419B-9BAA-774A7DF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范围不清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C05A1-264D-4FD7-A9B6-A416FF93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1B88-392C-4C66-B0DB-87463A4C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版本分散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ACB8F-5EAB-4A8D-95D3-9C74D93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FEB5B-FFC2-4448-AEB4-7EB9098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64646-CFF3-4EE8-8D83-A6E8F57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收样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CE371-406D-462A-B9D0-98C28C5E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89CE9-51B6-4B61-ADF3-E9CE5B3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62B76-4703-413B-AB24-3B44EBA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身份冲突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CF59B3-F8CA-404A-98D6-7FE9F74B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0AB13-D2F8-47B4-B063-584432E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样品不足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7970B2-4D67-4675-808F-C26EF05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7C3FC-373F-438F-A2E2-C0377D2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D6253B-CF28-46AD-B103-18991EAC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50E20E-9A88-44D5-A65A-B0CA9A3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050248-0195-418C-8FE9-44C619B8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083561-B3B1-493E-972E-CA1BDA48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排程等待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D1FA4-4EFC-4C33-9F73-59F8DA0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3844D-E90B-4A95-8EC0-019AA97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重复录入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88641C-889B-4E67-A81B-8D8331EB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207537-13DD-4C60-9822-0D6967A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3D44D-EEAE-4E21-AA02-CC3F862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76516E-462E-4409-9E1D-E6FE5017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3B8518-FAC1-440F-BFEF-0F39B69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BB33A0-1029-4B36-AAD3-54FC38CA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证据缺口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AE20BA-37EB-4AAF-8213-1FEDFC4F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AD41B8-2DCC-41F3-B04F-96CDB19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异常升级晚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489A2D-D152-499B-9056-28BBCFCB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6475" y="1981200"/>
            <a:ext cx="1685925" cy="19240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C76C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53814E-2235-4CA4-ADC4-2C2E6D1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0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06B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92328A-EA40-4DAB-BDBF-CCEE455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14600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FD02E6-7E19-4999-87FC-DDB2FA75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90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DA5FEF-F344-45D2-BBBE-480920F7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541DF2-273E-45A3-BFF8-395503C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62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复核返工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1F82A4-BE00-4039-83F2-F16902F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4E2E48-620A-4AB6-9832-39866894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242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cxnSp>
        <p:nvCxnSpPr>
          <p:cNvPr id="137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295525" y="2943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B72">
                <a:alpha val="70000"/>
              </a:srgbClr>
            </a:solidFill>
            <a:prstDash val="dash"/>
            <a:head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86A954-3D69-42BA-A0FF-E988389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2355A0-72B0-4A86-95CB-66F74E43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1462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cxnSp>
        <p:nvCxnSpPr>
          <p:cNvPr id="140" name=""/>
          <p:cNvCxnSpPr>
            <a:stCxn xmlns:a="http://schemas.openxmlformats.org/drawingml/2006/main" id="18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152900" y="2943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B72">
                <a:alpha val="70000"/>
              </a:srgbClr>
            </a:solidFill>
            <a:prstDash val="dash"/>
            <a:head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D25BEF-57EB-4F19-B018-E95892A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A0C4B7-3F88-4ED3-AF50-A7DB62F7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cxnSp>
        <p:nvCxnSpPr>
          <p:cNvPr id="143" name=""/>
          <p:cNvCxnSpPr>
            <a:stCxn xmlns:a="http://schemas.openxmlformats.org/drawingml/2006/main" id="26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10275" y="2943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B72">
                <a:alpha val="70000"/>
              </a:srgbClr>
            </a:solidFill>
            <a:prstDash val="dash"/>
            <a:head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E768E1-D686-430C-A34F-3F7E63D5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214659-AB49-4175-B71F-BEA92C8F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1462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cxnSp>
        <p:nvCxnSpPr>
          <p:cNvPr id="146" name=""/>
          <p:cNvCxnSpPr>
            <a:stCxn xmlns:a="http://schemas.openxmlformats.org/drawingml/2006/main" id="34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867650" y="2943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B72">
                <a:alpha val="70000"/>
              </a:srgbClr>
            </a:solidFill>
            <a:prstDash val="dash"/>
            <a:head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391515-24DA-4FA1-B044-B3A82E22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38768C-75B0-43BC-9F9C-2EE012B3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cxnSp>
        <p:nvCxnSpPr>
          <p:cNvPr id="149" name=""/>
          <p:cNvCxnSpPr>
            <a:stCxn xmlns:a="http://schemas.openxmlformats.org/drawingml/2006/main" id="42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9725025" y="2943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B72">
                <a:alpha val="70000"/>
              </a:srgbClr>
            </a:solidFill>
            <a:prstDash val="dash"/>
            <a:head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6B3D17-5117-4224-9E64-2D8CEF6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078C0F-A2BB-4C14-8BE7-4CDE9FE2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1462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2B4BE2A-38ED-4EB4-AD25-D591EC5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05300"/>
            <a:ext cx="10972800" cy="1504950"/>
          </a:xfrm>
          <a:prstGeom xmlns:a="http://schemas.openxmlformats.org/drawingml/2006/main" prst="roundRect">
            <a:avLst>
              <a:gd name="adj" fmla="val 13924"/>
            </a:avLst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03845"/>
              </a:gs>
            </a:gsLst>
            <a:lin ang="0"/>
          </a:gradFill>
          <a:ln xmlns:a="http://schemas.openxmlformats.org/drawingml/2006/main" w="9525">
            <a:solidFill>
              <a:srgbClr val="0B2B3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95278B-734E-4C0A-AC04-7765990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管理层通常在最后一刻才看到问题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FE5234-83D8-4830-8533-05DF0CA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等待不可见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28652E-2F9E-4616-8885-60B745A0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返工发生太晚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463A60-D9E2-45E2-BBC0-C323C47C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148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责任难下钻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89802F-999E-42F4-A448-5A7D8A0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291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591713-C15C-4AAA-AC8B-C7DF5C22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真正的问题不是某个岗位不努力，而是整条链缺少一份共同、受控、可追踪的业务基线。</a:t>
            </a:r>
          </a:p>
        </p:txBody>
      </p:sp>
    </p:spTree>
    <p:extLst>
      <p:ext uri="{BB962C8B-B14F-4D97-AF65-F5344CB8AC3E}">
        <p14:creationId xmlns:p14="http://schemas.microsoft.com/office/powerpoint/2010/main" val="31558670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17E3BB-6430-4906-B8D7-2DF01A3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9F436-2391-4D08-B8D1-21AD962A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85B9F-1B23-436C-9B44-68246016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71DE-4E6F-44DC-912C-5382D1F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92553-903A-439C-B8DE-DB2E159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CD4C8-F420-412F-A6A7-A2ACC31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价值泄漏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54039-CBDF-45BE-B0C2-8558C898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一笔业务在报价、开工、检测、签发四次发生价值泄漏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3B9D3-0D77-4601-B285-8D4AF06E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利润、交期与客户信任，往往不是在一次大事故中损失，而是在多个小断点中持续流失。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16CA1-6BA5-4FDA-B188-CF515D4F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EC368-3157-4B42-8618-E0FD2EF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97011-C9CD-426C-A37B-2BC195EB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67435-A10D-4C35-B2D8-0BE3D69F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94869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55D6E8">
                <a:alpha val="2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10F45-AA25-4B91-A6B5-90791F6C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4869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4423B-A3E3-441A-A82E-825C8920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商业价值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5AA1E-5B11-42FA-A93C-14AF34E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客户交付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4BAC5-7A0D-4BD8-BA3F-6FF1494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860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0C981-5DB7-46EF-9654-A3FAE26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59A79-D205-4CBE-84BF-D227DEA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18C51-49C1-4650-8F90-2B90F86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860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丢单 / 低估成本</a:t>
            </a:r>
          </a:p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事后增项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F158B-7859-4694-823F-7EF6B47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352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2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E7084-AF56-4EDE-8802-A34A55D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43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32E52-3F73-48CB-8A62-A558A111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29718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9CF3B-C735-4F90-B30F-8132121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BF6E7-46E1-41AC-B607-602B53D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004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7D8FC-AB27-4FC6-89D6-26D7EEB8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718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缺样 / 错样</a:t>
            </a:r>
          </a:p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配件与工装未到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1325B-94FF-4C61-8142-87C750F6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2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7B648-AA07-4920-8EF5-AD0A160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EA14F-A107-4BEA-8273-741368F5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6576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A1C67-81CF-4B79-9E64-27EA4A0E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8EB95-66CA-4890-A6C7-DDA8F4FA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0D577-FF6E-451E-8594-2B5A3056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576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设备人员等待</a:t>
            </a:r>
          </a:p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排程与前置冲突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18878-BF61-49CA-8B95-F948A36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724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2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1381ED-5FE0-48AA-BBD5-A6936C6F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148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383D40-653B-4905-BF6D-769E4DC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3434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19050">
            <a:solidFill>
              <a:srgbClr val="F3C76C">
                <a:alpha val="5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B1F2A6-13D7-4B6C-8DC0-BBF988E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95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38110-EC74-4FE6-A174-70D039B5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720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0A89A6-5B5D-4DFF-8788-E761FAB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7434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报告返工</a:t>
            </a:r>
          </a:p>
          <a:p xmlns:a="http://schemas.openxmlformats.org/drawingml/2006/main">
            <a:pPr algn="l">
              <a:def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回款与口碑延迟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23736A-F296-4AFB-BE14-E99B62C4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5410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9DE59-1FC6-4CE2-9B54-22F257A9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006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71A2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A330C7-0E24-4B24-A9C6-A015E8E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657850"/>
            <a:ext cx="1059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C76C">
              <a:alpha val="12000"/>
            </a:srgbClr>
          </a:solidFill>
          <a:ln xmlns:a="http://schemas.openxmlformats.org/drawingml/2006/main" w="9525">
            <a:solidFill>
              <a:srgbClr val="F3C76C">
                <a:alpha val="28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C86AFB-3514-45DC-9C60-D8248FE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价值泄漏不是单点错误，而是跨部门链路缺少共同基线。</a:t>
            </a:r>
          </a:p>
        </p:txBody>
      </p:sp>
    </p:spTree>
    <p:extLst>
      <p:ext uri="{BB962C8B-B14F-4D97-AF65-F5344CB8AC3E}">
        <p14:creationId xmlns:p14="http://schemas.microsoft.com/office/powerpoint/2010/main" val="40775148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9B807F-866A-4A0E-B1BD-08E9A51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34711-567C-4D99-9387-9E25EA4F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AA7BD-05D5-444D-BD96-40635FED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507DF-AED4-4057-AC8D-AF464427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行业适配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401A4-B3F8-414E-A207-CF683C86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五类检测不同，但老板管理的是同一条交付主线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A43F8-7523-4EEB-A0BD-E265404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行业语义必须被尊重；经营控制无需重复建设。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61271-0A4A-43FB-86C4-FADD4B0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56AAD-1937-42BA-BA0F-4A51C92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B8E48-5240-4078-8FF6-891620E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CF7F1-D06E-46EB-A9C0-F89397F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47850"/>
            <a:ext cx="19812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A06FD-3F7E-47EA-8284-0A88D38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电子电器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D0D2D-93A3-4E16-A715-A4BE971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配置 · 模式</a:t>
            </a:r>
          </a:p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扫描 / 最差点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3BD0D-764C-4B6F-9094-F0D6C84B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1847850"/>
            <a:ext cx="19812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3362B-302B-4ECE-9900-107FA01F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食品接触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C346B-F136-4D6E-BB05-DB6ACC7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迁移暴露 · 迁移液</a:t>
            </a:r>
          </a:p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分析份 / 分析批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B8A93-2976-4893-A443-AFAC029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847850"/>
            <a:ext cx="19812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B99A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C3455-798E-4E8D-A974-F7CBEBD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玩具婴童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D8FD-28E7-4714-9C76-C59FEFC0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年龄 · 可接触性</a:t>
            </a:r>
          </a:p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测试单元 / 破坏顺序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81D7A-9C50-4413-AE53-A8B27CCC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1847850"/>
            <a:ext cx="19812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FA160-C43C-4EE4-A3F2-E80D9F9F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38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纺织品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2E050-D8DC-476B-92BB-00124634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款色 · 裁样</a:t>
            </a:r>
          </a:p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调湿洗涤 / 高吞吐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39675-1CC8-498E-842B-E097CD8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1847850"/>
            <a:ext cx="19812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EABE7-55B3-46CF-BC8A-7FDBE54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汽车零件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B9B16-89D1-428C-B230-06895F32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DVP&amp;R · 样件组</a:t>
            </a:r>
          </a:p>
          <a:p xmlns:a="http://schemas.openxmlformats.org/drawingml/2006/main">
            <a:pPr algn="ctr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版本 / 长周期资源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BC61D-AF5D-42A1-85E1-C4A59B4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33800"/>
            <a:ext cx="10134600" cy="1295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03845"/>
              </a:gs>
            </a:gsLst>
            <a:lin ang="0"/>
          </a:gradFill>
          <a:ln xmlns:a="http://schemas.openxmlformats.org/drawingml/2006/main" w="9525">
            <a:solidFill>
              <a:srgbClr val="0B2B36"/>
            </a:solidFill>
            <a:prstDash val="solid"/>
          </a:ln>
        </p:spPr>
      </p: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600200" y="3086100"/>
            <a:ext cx="44958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30000"/>
              </a:srgbClr>
            </a:solidFill>
            <a:prstDash val="solid"/>
          </a:ln>
        </p:spPr>
      </p:cxnSp>
      <p:cxnSp>
        <p:nvCxnSpPr>
          <p:cNvPr id="80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810000" y="3086100"/>
            <a:ext cx="2286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30000"/>
              </a:srgbClr>
            </a:solidFill>
            <a:prstDash val="solid"/>
          </a:ln>
        </p:spPr>
      </p:cxnSp>
      <p:cxnSp>
        <p:nvCxnSpPr>
          <p:cNvPr id="81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19800" y="3086100"/>
            <a:ext cx="762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30000"/>
              </a:srgbClr>
            </a:solidFill>
            <a:prstDash val="solid"/>
          </a:ln>
        </p:spPr>
      </p:cxnSp>
      <p:cxnSp>
        <p:nvCxnSpPr>
          <p:cNvPr id="82" name=""/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3086100"/>
            <a:ext cx="21336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30000"/>
              </a:srgbClr>
            </a:solidFill>
            <a:prstDash val="solid"/>
          </a:ln>
        </p:spPr>
      </p:cxnSp>
      <p:cxnSp>
        <p:nvCxnSpPr>
          <p:cNvPr id="83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3086100"/>
            <a:ext cx="43434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30000"/>
              </a:srgbClr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32BA3-4F47-47CA-9731-E44B9A74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665D3C-14E7-43DC-A2B4-C19B37DC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委托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04178-B119-4B28-B4AE-7274287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D6E8">
                <a:alpha val="5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B467B9-771C-47F4-922E-D3E7C8A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B6A2A-9913-4B6C-A972-B916F7B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9C5B0A-1D99-4034-B23B-85E5149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D6E8">
                <a:alpha val="5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81EE5-0C90-4FAD-B3E6-FAE87717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6D018-3205-446B-BE89-6F498960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E60FD-D104-45FF-BC39-DF2E7443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D6E8">
                <a:alpha val="5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C0774-D5CE-4F1A-A0AD-0C74B09E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ED0004-0F43-4BCC-8826-C49B8149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14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2683E6-A227-43A2-B799-AE0C8BA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5D6E8">
                <a:alpha val="5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F16355-6CC3-4A72-BA18-694DDECD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99A"/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BAE29D-AF4F-4133-B01A-238812F3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14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021D92-68A0-48FA-987B-9FD86A8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同一条经营主线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72591-4DCE-41E4-ACE0-61368E3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5391150"/>
            <a:ext cx="2343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24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47E6D0-57F0-4F60-ABB1-05A8649D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承诺范围正确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A2EB79-FA23-4CD2-BD29-23425B29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391150"/>
            <a:ext cx="2343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24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8AE73A-4B7C-46ED-93BD-C9CFD4C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006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生产执行可控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3A2ED1-6B28-4193-87D6-72449E98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5391150"/>
            <a:ext cx="2343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24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78B54F-F859-49DB-A856-827ADD0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006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报告证据可信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E1611C-37F3-4307-9B93-B06958B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5391150"/>
            <a:ext cx="2343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F3C76C">
                <a:alpha val="5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50CA03-D80B-4C0A-8CFD-D8DDC11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006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经营结果可见</a:t>
            </a:r>
          </a:p>
        </p:txBody>
      </p:sp>
    </p:spTree>
    <p:extLst>
      <p:ext uri="{BB962C8B-B14F-4D97-AF65-F5344CB8AC3E}">
        <p14:creationId xmlns:p14="http://schemas.microsoft.com/office/powerpoint/2010/main" val="118063964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1BBA9-C3D5-4DA9-891D-1643235F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9BFAC-EE76-43D2-B4CE-0B786669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C60C3-8C3A-4D6F-9C41-6619C68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FB8E-9316-40B0-8921-E75D25E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2AB43-59A4-41F5-8A6E-975D8CD2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6AEB5-04FD-4B6F-85CE-37DB22B4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BDF3C-B3C7-4143-B2D3-18682BC3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用受控检测范围锁定承诺、成本、样品和报告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D0517-3FFD-45F4-B798-D90DADF0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TestScopeMatrix 是正式报价与检测执行的版本化业务基线，也是 OpenLIMS 的核心差异化。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60C28-0FED-44E5-A11C-CDDCFBA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4039F-B5D4-4C35-94DB-A6F5970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27531-7BC6-49C4-8F22-3DAC94C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331CE-305A-4E78-8DA4-918DECF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866900"/>
            <a:ext cx="35242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6000"/>
                </a:srgbClr>
              </a:gs>
              <a:gs pos="48000">
                <a:srgbClr val="19B99A">
                  <a:alpha val="9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1D77B-1EF5-4C19-8410-954CAB7B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09800"/>
            <a:ext cx="2971800" cy="173355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19B99A"/>
              </a:gs>
              <a:gs pos="100000">
                <a:srgbClr val="0F8E80"/>
              </a:gs>
            </a:gsLst>
            <a:lin ang="8100000"/>
          </a:gradFill>
          <a:ln xmlns:a="http://schemas.openxmlformats.org/drawingml/2006/main" w="19050">
            <a:solidFill>
              <a:srgbClr val="55D6E8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8C0E9-890E-4A24-9DBA-8CF2B916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受控检测范围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6CB42-5CBF-4D4D-A978-A9452A0A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TestScopeMatrix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A196F-4A42-4B8A-9FAF-E90B33BF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逐行锁定 · 版本化 · 可批准 · 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52F09-3337-4BCD-A6F7-0DB9F76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客户承诺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690CA-0066-42A9-B666-62BF16D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实验室执行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7CD15-39E2-4CCD-AB50-F2588B5B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3812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40722-A150-49B3-917F-690A2076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目标市场 / 客户协议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5E2AE-7838-42F9-AAE4-5913F409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3812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A914D-1233-4798-873E-F799B07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方法版本 / 工作中心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90A73-358D-4021-91C3-8C17B5DC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194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EE8E8-9C6A-42E1-8884-AF4771A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要求条款 / 评价模式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BBE38-7945-445D-802D-089584C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2194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CC914-D6FA-4B48-B222-3945788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样品需求 / 代表性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839F9-ACE0-4B87-85EB-E58F2D5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576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72FDA-311C-480C-B15D-B735C8E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正式报价 / 承诺 TAT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11872-7AF8-4B3F-915A-FB076956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057650"/>
            <a:ext cx="25146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F387A-3765-4C6F-88EA-976A0BB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529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报告位置 / 判定规则</a:t>
            </a:r>
          </a:p>
        </p:txBody>
      </p:sp>
      <p:cxnSp>
        <p:nvCxnSpPr>
          <p:cNvPr id="84" name=""/>
          <p:cNvCxnSpPr>
            <a:stCxn xmlns:a="http://schemas.openxmlformats.org/drawingml/2006/main" id="1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00400" y="2667000"/>
            <a:ext cx="14097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581900" y="2667000"/>
            <a:ext cx="14097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3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200400" y="3076575"/>
            <a:ext cx="1409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581900" y="3076575"/>
            <a:ext cx="1409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200400" y="3076575"/>
            <a:ext cx="1409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3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581900" y="3076575"/>
            <a:ext cx="1409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8000"/>
              </a:srgbClr>
            </a:solidFill>
            <a:prstDash val="solid"/>
            <a:head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B7044-83EC-4C12-A8B2-86E48048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91490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CAF7C-5A62-4DC3-A801-3C9327B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9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价格</a:t>
            </a:r>
          </a:p>
        </p:txBody>
      </p:sp>
      <p:cxnSp>
        <p:nvCxnSpPr>
          <p:cNvPr id="92" name=""/>
          <p:cNvCxnSpPr>
            <a:stCxn xmlns:a="http://schemas.openxmlformats.org/drawingml/2006/main" id="1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3276600" y="3943350"/>
            <a:ext cx="28194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B99A">
                <a:alpha val="35000"/>
              </a:srgbClr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CC5E0-9037-4B5C-849D-9180FCF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91490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793FE6-D917-4321-947B-40DCDD3F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交期</a:t>
            </a:r>
          </a:p>
        </p:txBody>
      </p:sp>
      <p:cxnSp>
        <p:nvCxnSpPr>
          <p:cNvPr id="95" name=""/>
          <p:cNvCxnSpPr>
            <a:stCxn xmlns:a="http://schemas.openxmlformats.org/drawingml/2006/main" id="13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4667250" y="3943350"/>
            <a:ext cx="14287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B99A">
                <a:alpha val="35000"/>
              </a:srgbClr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D9ACB-7BE3-4DD7-83DA-01634F5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491490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9CBEDB-3D3A-4899-92D9-B2288EA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19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cxnSp>
        <p:nvCxnSpPr>
          <p:cNvPr id="98" name=""/>
          <p:cNvCxnSpPr>
            <a:stCxn xmlns:a="http://schemas.openxmlformats.org/drawingml/2006/main" id="13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H="1">
            <a:off x="6057900" y="3943350"/>
            <a:ext cx="381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B99A">
                <a:alpha val="35000"/>
              </a:srgbClr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CB9AF1-D311-4F08-8F2E-CFDDEB5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91490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9D30BA-89A4-47CB-82BA-09282B6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在制任务</a:t>
            </a:r>
          </a:p>
        </p:txBody>
      </p:sp>
      <p:cxnSp>
        <p:nvCxnSpPr>
          <p:cNvPr id="101" name=""/>
          <p:cNvCxnSpPr>
            <a:stCxn xmlns:a="http://schemas.openxmlformats.org/drawingml/2006/main" id="13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6096000" y="3943350"/>
            <a:ext cx="13525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B99A">
                <a:alpha val="35000"/>
              </a:srgbClr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43D06C-4170-43C3-99DD-9D2C84FB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91490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3C76C">
              <a:alpha val="18000"/>
            </a:srgbClr>
          </a:solidFill>
          <a:ln xmlns:a="http://schemas.openxmlformats.org/drawingml/2006/main" w="9525">
            <a:solidFill>
              <a:srgbClr val="F3C76C">
                <a:alpha val="4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8B318C-D635-4AE4-A6E7-E2E3942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9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cxnSp>
        <p:nvCxnSpPr>
          <p:cNvPr id="104" name=""/>
          <p:cNvCxnSpPr>
            <a:stCxn xmlns:a="http://schemas.openxmlformats.org/drawingml/2006/main" id="13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6096000" y="3943350"/>
            <a:ext cx="27432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B99A">
                <a:alpha val="35000"/>
              </a:srgbClr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7D7312-8323-47B3-A568-9C693C55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743575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2000"/>
            </a:srgbClr>
          </a:solidFill>
          <a:ln xmlns:a="http://schemas.openxmlformats.org/drawingml/2006/main" w="9525">
            <a:solidFill>
              <a:srgbClr val="F3C76C">
                <a:alpha val="3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8E98CA-399E-4220-A2BF-E2DFD3DD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531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一次变更，自动识别全部下游影响</a:t>
            </a:r>
          </a:p>
        </p:txBody>
      </p:sp>
    </p:spTree>
    <p:extLst>
      <p:ext uri="{BB962C8B-B14F-4D97-AF65-F5344CB8AC3E}">
        <p14:creationId xmlns:p14="http://schemas.microsoft.com/office/powerpoint/2010/main" val="125032298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F37476-BE3B-424E-9927-54C528D4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6977E-8244-4E45-8346-E9C46D8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E8336-F1B6-4381-AF9F-8C0F2759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F2A74-3D1D-45FB-8461-27777F3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经营价值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D9FA2-DFE3-481C-94D0-9F3DDEA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四个经营结果形成增长飞轮：赢单、提产、降错、控险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E9E7D-ED54-46B4-8F70-C23D682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功能只有转化为经营结果，才值得管理层投资。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84414-1BF5-4070-A742-9175C73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C8AB-F578-40EA-82C5-F30F3CA0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48DCF-E2C0-49C9-83CD-AB94B6E2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844C9-651C-4167-946B-7A7C4F41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609850"/>
            <a:ext cx="2667000" cy="19621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03845"/>
              </a:gs>
            </a:gsLst>
            <a:lin ang="8100000"/>
          </a:gradFill>
          <a:ln xmlns:a="http://schemas.openxmlformats.org/drawingml/2006/main" w="19050">
            <a:solidFill>
              <a:srgbClr val="19B99A">
                <a:alpha val="4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CA79F-EE70-489A-99D2-CC155D3A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稳定增长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B092C-22D6-4140-980F-BE2A2820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更高客户信任</a:t>
            </a:r>
          </a:p>
          <a:p xmlns:a="http://schemas.openxmlformats.org/drawingml/2006/main">
            <a:pPr algn="ctr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更强复制能力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77405-497D-43E5-8C08-2523B9E9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1866900"/>
            <a:ext cx="253365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0F8E80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FE96F-A3A8-48EC-B816-3E4C8ABF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E3FBA-411E-4504-9D55-B66D6C7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赢单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18AE8-0416-4D9A-8754-CD4C60C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缩短技术评估</a:t>
            </a:r>
          </a:p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保护报价正确率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AAA7B-7A16-4FB2-B1CB-9F529DF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866900"/>
            <a:ext cx="253365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DFF4F7"/>
          </a:solidFill>
          <a:ln xmlns:a="http://schemas.openxmlformats.org/drawingml/2006/main" w="9525">
            <a:solidFill>
              <a:srgbClr val="147C8B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FC210-2F8F-47E8-9EA8-1CCC3BD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92544-F888-4110-854A-D2AA6940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提产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B9EE1-68E4-4F04-B8A3-D209116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减少等待与重复录入</a:t>
            </a:r>
          </a:p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释放人机产能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FC1B2-617E-412B-A0F0-D68520C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362450"/>
            <a:ext cx="253365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DE5EA-167C-4C4E-8C74-FF3184D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34B99-6AB8-4618-9D83-194B17F5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降错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3FB47-37C7-4DA4-90B6-880F669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62500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身份、范围、版本</a:t>
            </a:r>
          </a:p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与结果来源一致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3D4EA-BD7F-4B66-AFA2-BA6AE8B5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362450"/>
            <a:ext cx="253365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B84E38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B05A6-33FA-409B-8F50-0825A45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547A3-7272-4196-8C55-CE0A77ED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控险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5E4B3-29CF-4067-B494-E2CFC7E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认可、QC、授权</a:t>
            </a:r>
          </a:p>
          <a:p xmlns:a="http://schemas.openxmlformats.org/drawingml/2006/main">
            <a:pPr algn="l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进入签发门禁</a:t>
            </a:r>
          </a:p>
        </p:txBody>
      </p: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52900" y="2495550"/>
            <a:ext cx="3886200" cy="762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305925" y="32766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4152900" y="5067300"/>
            <a:ext cx="388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5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2886075" y="32766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52900" y="2571750"/>
            <a:ext cx="1000173" cy="325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4">
                <a:alpha val="18000"/>
              </a:srgbClr>
            </a:solidFill>
            <a:prstDash val="dash"/>
          </a:ln>
        </p:spPr>
      </p:cxnSp>
      <p:cxnSp>
        <p:nvCxnSpPr>
          <p:cNvPr id="72" name=""/>
          <p:cNvCxnSpPr>
            <a:stCxn xmlns:a="http://schemas.openxmlformats.org/drawingml/2006/main" id="17" idx="1"/>
            <a:endCxn xmlns:a="http://schemas.openxmlformats.org/drawingml/2006/main" id="10" idx="7"/>
          </p:cNvCxnSpPr>
          <p:nvPr/>
        </p:nvCxnSpPr>
        <p:spPr>
          <a:xfrm xmlns:a="http://schemas.openxmlformats.org/drawingml/2006/main" flipH="1">
            <a:off x="7038927" y="2571750"/>
            <a:ext cx="1000173" cy="325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4">
                <a:alpha val="18000"/>
              </a:srgbClr>
            </a:solidFill>
            <a:prstDash val="dash"/>
          </a:ln>
        </p:spPr>
      </p:cxnSp>
      <p:cxnSp>
        <p:nvCxnSpPr>
          <p:cNvPr id="73" name=""/>
          <p:cNvCxnSpPr>
            <a:stCxn xmlns:a="http://schemas.openxmlformats.org/drawingml/2006/main" id="21" idx="1"/>
            <a:endCxn xmlns:a="http://schemas.openxmlformats.org/drawingml/2006/main" id="10" idx="5"/>
          </p:cNvCxnSpPr>
          <p:nvPr/>
        </p:nvCxnSpPr>
        <p:spPr>
          <a:xfrm xmlns:a="http://schemas.openxmlformats.org/drawingml/2006/main" flipH="1" flipV="1">
            <a:off x="7038927" y="4284650"/>
            <a:ext cx="1000173" cy="782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4">
                <a:alpha val="18000"/>
              </a:srgbClr>
            </a:solidFill>
            <a:prstDash val="dash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V="1">
            <a:off x="4152900" y="4284650"/>
            <a:ext cx="1000173" cy="782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4">
                <a:alpha val="18000"/>
              </a:srgbClr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CC271-6511-46E7-8B55-67E5F010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5886450"/>
            <a:ext cx="6210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DE88E5-7FC2-4C02-8AD2-A52FCDF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95975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更快准确报价 → 一次正确开工 → 稳定交付 → 客户续单</a:t>
            </a:r>
          </a:p>
        </p:txBody>
      </p:sp>
    </p:spTree>
    <p:extLst>
      <p:ext uri="{BB962C8B-B14F-4D97-AF65-F5344CB8AC3E}">
        <p14:creationId xmlns:p14="http://schemas.microsoft.com/office/powerpoint/2010/main" val="171503918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5A6FD3-6D32-4961-A401-F220408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C8F4A-6FEC-4126-9363-471280E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A4CEB-BACB-4AED-8A45-558BC96D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5FA14-CF44-41F3-AF70-E5DB2B5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45308-3700-4533-B6A1-0CE25B91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561D9-5B70-4261-888F-1E4032E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经营驾驶舱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6691B-8CC0-4985-8DA8-52BCE67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OTIF-R 统一销售承诺、产能与质量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316F5-358C-44A8-A5B9-CB334B8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从月底解释延期，转向在制预警、原因分解与责任闭环。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0F867-4266-44D4-83ED-96BD2BCD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30356-4871-4B7C-BBA6-F3DF2A50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FB8AE-70E5-4142-AEEB-141DAE5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BF65F-E164-4A96-AB92-2D9D7796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038350"/>
            <a:ext cx="3276600" cy="24574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/>
              </a:gs>
              <a:gs pos="58000">
                <a:srgbClr val="0F8E80"/>
              </a:gs>
              <a:gs pos="100000">
                <a:srgbClr val="0B2B36"/>
              </a:gs>
            </a:gsLst>
            <a:path path="shape"/>
          </a:gradFill>
          <a:ln xmlns:a="http://schemas.openxmlformats.org/drawingml/2006/main" w="19050">
            <a:solidFill>
              <a:srgbClr val="55D6E8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47A66-34D1-4D21-AB51-6C7F86B0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OTIF-R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5F71A-AD4E-42A0-8ADA-FB1345C0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按期 · 完整 · 一次正确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51844-8FBE-4EC2-9FAE-AADE67D0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同一张经营表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29F3F-ED31-4D87-BBF2-2068924D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133600"/>
            <a:ext cx="1943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7580A-D92A-4E8B-AABB-715A08A1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4BBFB-8C90-4046-BF12-A967C88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承诺 TAT / 逾期</a:t>
            </a:r>
          </a:p>
        </p:txBody>
      </p: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2819400" y="2628900"/>
            <a:ext cx="163830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36000"/>
              </a:srgbClr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6265D-39B8-40E3-95DC-EC7D5092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48100"/>
            <a:ext cx="1943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3D1DA-1AF0-4127-8477-0CF0601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范围完整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84F09-60DD-4C4D-BD15-4F51D11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漏项 / 变更</a:t>
            </a:r>
          </a:p>
        </p:txBody>
      </p:sp>
      <p:cxnSp>
        <p:nvCxnSpPr>
          <p:cNvPr id="68" name=""/>
          <p:cNvCxnSpPr>
            <a:stCxn xmlns:a="http://schemas.openxmlformats.org/drawingml/2006/main" id="2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819400" y="3267075"/>
            <a:ext cx="163830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36000"/>
              </a:srgbClr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E79E9-AE69-418A-A0AB-2F12B0BE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133600"/>
            <a:ext cx="1943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ED751-57E0-44A8-9591-C1A87258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一次正确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B88245-BF20-4E8F-B11C-BA9485B0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首次通过 / 更正</a:t>
            </a:r>
          </a:p>
        </p:txBody>
      </p:sp>
      <p:cxnSp>
        <p:nvCxnSpPr>
          <p:cNvPr id="72" name=""/>
          <p:cNvCxnSpPr>
            <a:stCxn xmlns:a="http://schemas.openxmlformats.org/drawingml/2006/main" id="24" idx="1"/>
            <a:endCxn xmlns:a="http://schemas.openxmlformats.org/drawingml/2006/main" id="12" idx="6"/>
          </p:cNvCxnSpPr>
          <p:nvPr/>
        </p:nvCxnSpPr>
        <p:spPr>
          <a:xfrm xmlns:a="http://schemas.openxmlformats.org/drawingml/2006/main" flipH="1">
            <a:off x="7734300" y="2628900"/>
            <a:ext cx="163830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36000"/>
              </a:srgbClr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0D7F4-A2F9-4F11-831B-81D1C08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848100"/>
            <a:ext cx="19431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6721A-8294-4670-9E46-3A072F55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D9BA7-70AB-4D7D-904F-2D6C79ED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815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设备 / 人员 / 场地</a:t>
            </a:r>
          </a:p>
        </p:txBody>
      </p:sp>
      <p:cxnSp>
        <p:nvCxnSpPr>
          <p:cNvPr id="76" name=""/>
          <p:cNvCxnSpPr>
            <a:stCxn xmlns:a="http://schemas.openxmlformats.org/drawingml/2006/main" id="28" idx="1"/>
            <a:endCxn xmlns:a="http://schemas.openxmlformats.org/drawingml/2006/main" id="12" idx="6"/>
          </p:cNvCxnSpPr>
          <p:nvPr/>
        </p:nvCxnSpPr>
        <p:spPr>
          <a:xfrm xmlns:a="http://schemas.openxmlformats.org/drawingml/2006/main" flipH="1" flipV="1">
            <a:off x="7734300" y="3267075"/>
            <a:ext cx="163830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36000"/>
              </a:srgbClr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44E83-1DC0-4270-8942-1360E06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972050"/>
            <a:ext cx="2667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0CF7BF-C390-489B-B6B4-25DBDCD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244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2117C-C277-4D2D-921B-8BBBD43F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054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阻断 / 升级 / 关闭</a:t>
            </a:r>
          </a:p>
        </p:txBody>
      </p:sp>
      <p:cxnSp>
        <p:nvCxnSpPr>
          <p:cNvPr id="80" name=""/>
          <p:cNvCxnSpPr>
            <a:stCxn xmlns:a="http://schemas.openxmlformats.org/drawingml/2006/main" id="32" idx="0"/>
            <a:endCxn xmlns:a="http://schemas.openxmlformats.org/drawingml/2006/main" id="12" idx="4"/>
          </p:cNvCxnSpPr>
          <p:nvPr/>
        </p:nvCxnSpPr>
        <p:spPr>
          <a:xfrm xmlns:a="http://schemas.openxmlformats.org/drawingml/2006/main" flipV="1">
            <a:off x="6096000" y="44958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36000"/>
              </a:srgbClr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779548-118C-4E67-8D6A-125FFEC3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等待原因必须可分解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5B0E03-CDD4-465A-8F0E-E2FBB43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55054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5000"/>
            </a:srgbClr>
          </a:solidFill>
          <a:ln xmlns:a="http://schemas.openxmlformats.org/drawingml/2006/main" w="9525">
            <a:solidFill>
              <a:srgbClr val="F3C76C">
                <a:alpha val="28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2FD4CB-8C23-401F-9741-803BBD5F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14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客户等待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4EE298-95DE-40BD-B4DC-52F0712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55054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14E7E7-8C9E-4BA0-97D1-5BE7B60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14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内部等待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7D8BD4-532D-47F1-A747-22574B1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58864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4A7C6-4E76-4740-B593-D4CF969C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95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系统时间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9BE419-EF1F-44E7-BDDA-47D1B62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58864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304AFB-C3B1-4CDD-A6A2-5493BA9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95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065C0B-E007-4CD9-93C0-24E88518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北极星指标不是一张总分表，而是可以下钻到订单、任务、资源和责任人的管理机制。</a:t>
            </a:r>
          </a:p>
        </p:txBody>
      </p:sp>
    </p:spTree>
    <p:extLst>
      <p:ext uri="{BB962C8B-B14F-4D97-AF65-F5344CB8AC3E}">
        <p14:creationId xmlns:p14="http://schemas.microsoft.com/office/powerpoint/2010/main" val="141660107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7F9D8B-E752-489E-8110-9F9D59B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3CBE3-F363-40AB-B929-361E736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A458-2D96-4FD7-8796-BCC40CFF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98FA-7413-4A2A-AF27-C308318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质量与合规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3CE41-323B-4545-BBC1-98C65D9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合规成为日常门禁，而不是审计前补材料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FDA0E-743A-4135-9DF2-DDA9B62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每个报告结果都能沿证据链回放；任何关键门禁失败，系统阻断签发。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D76F6-FFED-4D1F-A1B8-3076145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811D4-8373-4CF7-81C4-28E7B4BD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1FD8B-2BA4-4670-89C3-6206B303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3DC6C-8B42-4529-B65A-83EA9406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19B99A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39BA0-8A7F-4DF0-BFCE-BA21F9D3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9D919-AFEF-4A64-880E-09225E3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876550"/>
            <a:ext cx="1314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CB278-75F8-4873-AC1C-81778F00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7C6AF-45CF-4854-987E-D962EB94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2876550"/>
            <a:ext cx="1314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059D1-C7D0-409D-841F-D807D02F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384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30646-B7D9-4E97-A85E-36A3B73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876550"/>
            <a:ext cx="1314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D83EC-A679-478A-B0CB-AA7B77F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384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D1119-640A-4518-87B9-B810E49A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2876550"/>
            <a:ext cx="1600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2B790-8BF3-4EE3-8A59-E15D468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3847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原始证据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50BFD-97AB-4291-9CD0-1238E71B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876550"/>
            <a:ext cx="1600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76205-35AE-430E-BCBC-94F21DE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采用结果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C5E47-37AB-4AD2-9E4A-B59048E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4175" y="2876550"/>
            <a:ext cx="1314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B2B36"/>
          </a:solidFill>
          <a:ln xmlns:a="http://schemas.openxmlformats.org/drawingml/2006/main" w="9525">
            <a:solidFill>
              <a:srgbClr val="0B2B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277BA-3542-4B01-A80C-85BC808C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384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44AB0-397C-4B64-8AF1-1D06B2F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1BE87-19AA-4E86-9A7A-A4056B5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66693-0EB5-4114-97CD-75845F9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身份匹配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9B591-F3EB-4274-A199-F63F8A50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242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CF79B-5F0C-4917-A943-A8D9197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0D630-93C6-4CF2-8E43-AE40533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F4520-9A59-425F-8259-AF9589E9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52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QC 通过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1DF14-9B0D-4D98-96D0-E89413D3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FCA940-A4A1-4A57-9D09-DE1AA40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16D9F8-4CD1-4970-A53B-5357CF9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F2784-7F33-4A8E-83E9-0003833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52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规则有效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CAA0A6-1CF2-41AF-9510-9EA24844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242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9B6FE-837C-4CAD-83DB-0D2E157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D"/>
          </a:solidFill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8EFA35-5467-4DC1-B058-710B119F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97CE3-DE03-4127-98B8-57EAABD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52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授权签发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E8BDF0-AFC9-48A6-A07A-F0C358F0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A7539-65C5-47D0-BF19-6DABB8D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81600"/>
            <a:ext cx="109728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6F3E42-8C6A-4C0C-967C-58761EF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可回放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9E0605-7484-42A0-938A-E8F18900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要求选择快照 → 范围行 → 实物/试样 → 方法版本 → 原始证据 → 采用结果 → 适用规则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2E6EDF-D023-49A0-8017-1E2B974C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5753100"/>
            <a:ext cx="2647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FF8B72">
                <a:alpha val="3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DC1D10-0C98-4BA5-80FB-67C2939E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626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rPr>
              <a:t>失败即阻断 · 全程留痕 · 异常升级</a:t>
            </a:r>
          </a:p>
        </p:txBody>
      </p:sp>
    </p:spTree>
    <p:extLst>
      <p:ext uri="{BB962C8B-B14F-4D97-AF65-F5344CB8AC3E}">
        <p14:creationId xmlns:p14="http://schemas.microsoft.com/office/powerpoint/2010/main" val="16569714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A742E4-6E91-48D3-884D-750122A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63719-1E5E-4474-A97A-9374C488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98F73-C5C7-42E7-B8A8-A71B56C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DCDF3-001A-4985-8F73-E54AD16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0F359-AC92-4077-8A4A-AFCA46E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4E1CC-03AD-44FD-9ED8-C71C1316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AI 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8E25E-7F62-4882-85A4-BB6EC78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节省认知劳动，不接管质量责任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73F57-8114-4440-A8EE-DE2AF38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把效率交给 AI，把确定性留给规则，把判断与签发留给授权人员。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8249F-4711-42E2-9EE1-2330AD2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FE27E-A1B2-4035-9BF0-DEA6DCD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ED07C-2503-40E5-A405-E436EBF6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11BDA-A749-483E-A30F-E6C08CA4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62150"/>
            <a:ext cx="3143250" cy="3295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9B99A">
              <a:alpha val="18000"/>
            </a:srgbClr>
          </a:solidFill>
          <a:ln xmlns:a="http://schemas.openxmlformats.org/drawingml/2006/main" w="9525">
            <a:solidFill>
              <a:srgbClr val="55D6E8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5EE6C-32B9-4D63-BB3B-B6957A6A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AI 协助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8711A-EF2A-4685-8340-8BE06AE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提高信息处理效率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CB598-2FBA-43A5-84A1-1F9F2DEE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0725E-82BA-4200-8DF7-C632801A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0F330-AB81-4C20-9166-0E3B857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资料提取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6EEF1-B31F-4AD8-8D42-605ED33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D9B33-7DFB-4CB2-9A28-AC95441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缺口提示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2964A-9D83-41DF-A467-196F085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DA786-70EB-4006-B857-06C7AA08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套餐候选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1FD52-F767-4AA1-AF94-1D7DEC6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D1DEB-E263-451D-B85A-AD57008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一致性检查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86DAD-97E8-497C-B1FF-9509465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962150"/>
            <a:ext cx="3143250" cy="3295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EAF0A-DDBD-4FB1-9B55-9D1DED6B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5AF89-BA1C-431F-90D8-6F03D50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051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执行可重复控制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379B6-5909-4B27-B0B9-6976A9CD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C6412-0520-4A15-9B15-FF31FE6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769F4-FD71-4729-8507-235F99D4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计算与换算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40606-0BA5-4509-AB5A-C6FAC56F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AB9EF-D022-46F9-B5ED-B5DF1FC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62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单位控制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7D6BCA-E3C5-4186-8C19-78CC65F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EF027-FCA3-4D32-A795-A6EBE645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1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限值比较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AA888-7F2F-4273-87CA-4D8B7BF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4380F-E2F9-4AC2-85B7-D2F9996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57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生产关口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9C97F3-E06E-404D-B2B7-DFAD7809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1962150"/>
            <a:ext cx="3143250" cy="3295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C76C">
              <a:alpha val="13000"/>
            </a:srgbClr>
          </a:solidFill>
          <a:ln xmlns:a="http://schemas.openxmlformats.org/drawingml/2006/main" w="19050">
            <a:solidFill>
              <a:srgbClr val="F3C76C">
                <a:alpha val="3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C3222-F3E3-41B9-9925-3671F475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授权人员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A3284-78FE-4C15-A3C9-1574C8E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承担质量责任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0E60CF-02D3-41F8-811B-D1CFB8E4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76060B-4FF9-402A-A807-C8B63B6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0CCB4-E6F2-4A2B-A15B-E80959DB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适用性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29B7FD-E8D3-4915-8FB9-493A1DD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B797CC-4428-4120-BE8C-93132B64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62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代表性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18E941-5EF7-4A69-9E17-6335DD2D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FFF74C-1711-4924-AB07-D99BF4F6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CE2936-CA1F-41A2-A66E-654C375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7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151E77-0BA9-45E4-BEFF-2A168877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57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复核与签发</a:t>
            </a:r>
          </a:p>
        </p:txBody>
      </p:sp>
      <p:cxnSp>
        <p:nvCxnSpPr>
          <p:cNvPr id="105" name=""/>
          <p:cNvCxnSpPr>
            <a:stCxn xmlns:a="http://schemas.openxmlformats.org/drawingml/2006/main" id="1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82905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8">
                <a:alpha val="42000"/>
              </a:srgbClr>
            </a:solidFill>
            <a:prstDash val="solid"/>
            <a:head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2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677150" y="3609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C76C">
                <a:alpha val="52000"/>
              </a:srgbClr>
            </a:solidFill>
            <a:prstDash val="solid"/>
            <a:head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CFDD36-2B9A-46F8-BD79-608606C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76C">
                <a:alpha val="55000"/>
              </a:srgbClr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9A7CD0-7006-4C40-B556-E7396BE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6383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6000"/>
            </a:srgbClr>
          </a:solidFill>
          <a:ln xmlns:a="http://schemas.openxmlformats.org/drawingml/2006/main" w="9525">
            <a:solidFill>
              <a:srgbClr val="F3C76C">
                <a:alpha val="36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526EAF-6402-47C0-8DFE-08C68CF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478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065F58-48BA-43DF-96A1-DB8D2BD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81650"/>
            <a:ext cx="10820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68D897-B7FD-4A99-84C0-A5F7C8A7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可审计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E2580B-8996-4B3E-810F-69D0415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可关闭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2233A0-6827-4F17-AE55-47F2FF8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15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可降级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B305C-1E57-4CCF-ABB4-C199FA3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AI 不可用，核心生产仍能继续</a:t>
            </a:r>
          </a:p>
        </p:txBody>
      </p:sp>
    </p:spTree>
    <p:extLst>
      <p:ext uri="{BB962C8B-B14F-4D97-AF65-F5344CB8AC3E}">
        <p14:creationId xmlns:p14="http://schemas.microsoft.com/office/powerpoint/2010/main" val="1620503673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80944-341C-4924-A0E0-2208DAE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A4360-9BE0-4FBB-9A5B-76D2EBD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366A3-40BB-4098-85C3-0F471D5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68327-13DA-4E56-99DF-C2DC6575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产品架构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9125C-3508-4A21-B2CE-969418E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平台内核 + 行业包 × 技术包 + 客户覆盖层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F5576-A624-4D69-955B-3138F43F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同一平台复用核心控制；按真实业务切片组合，而不是为每个行业重做一套 LIMS。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A5EA0-5C2B-4497-AE5F-64D0B36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DA85E-A145-45FD-98AB-83F68580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18ADD-88E5-4F1E-A114-5A5DD20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38B15-2208-48EE-BA0D-046066F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71650"/>
            <a:ext cx="84772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F3C76C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68692-316A-4305-8519-143207E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客户覆盖层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ED5DD-9573-4395-A245-AD06FAEF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716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客户协议 · 套餐 · 价格 · SLA · 报告模板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F2789-B71F-4401-AD4B-5E034724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717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只在批准覆盖点配置，不修改核心状态机与技术算法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2B255-1554-4265-8686-9684FAB6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990850"/>
            <a:ext cx="847725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ABDE5-1DD5-442D-8CDA-AB08891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正交扩展平面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A5C4E-2C23-431F-8A2A-AC9FA6AB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638550"/>
            <a:ext cx="33909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2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3EEAD-6617-4966-B9DE-782FF00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行业规则包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76912-70CC-4881-B83A-13B4DB1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电子 · 食品接触 · 玩具 · 纺织 · 汽车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DCB69-AE2D-4C5F-A24C-30C856EB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A59CE-9911-4AAA-8762-168B9643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638550"/>
            <a:ext cx="37909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4F7"/>
          </a:solidFill>
          <a:ln xmlns:a="http://schemas.openxmlformats.org/drawingml/2006/main" w="9525">
            <a:solidFill>
              <a:srgbClr val="55D6E8">
                <a:alpha val="3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19E39-2F56-4D40-BE7A-CFDAEF79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814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rPr>
              <a:t>检测技术包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BF470-9A84-4DF0-ADE5-8CBD2BA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052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分析化学 · 物理机械 · 安全 · EMC/RF · 环境可靠性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D92DC-5DAC-4BAB-8C79-6C5DFF6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91100"/>
            <a:ext cx="8477250" cy="1028700"/>
          </a:xfrm>
          <a:prstGeom xmlns:a="http://schemas.openxmlformats.org/drawingml/2006/main" prst="roundRect">
            <a:avLst>
              <a:gd name="adj" fmla="val 20370"/>
            </a:avLst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03845"/>
              </a:gs>
            </a:gsLst>
            <a:lin ang="0"/>
          </a:gradFill>
          <a:ln xmlns:a="http://schemas.openxmlformats.org/drawingml/2006/main" w="9525">
            <a:solidFill>
              <a:srgbClr val="0B2B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E7F2A-A5DC-421E-9565-F875CAC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平台内核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D8643-7529-47A2-8871-2E4521D1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38750"/>
            <a:ext cx="615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委托 · 样品 · 任务 · 结果 · 报告 · 权限 · 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5551A-B086-4209-9DEF-B3290005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57850"/>
            <a:ext cx="615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5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4000"/>
                  </a:srgbClr>
                </a:solidFill>
                <a:latin typeface="Microsoft YaHei"/>
                <a:ea typeface="Microsoft YaHei"/>
                <a:cs typeface="Microsoft YaHei"/>
              </a:rPr>
              <a:t>统一状态、统一证据、统一授权、统一追溯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286A1-AD6F-4176-A1A8-5C8A73A3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1771650"/>
            <a:ext cx="2190750" cy="4248150"/>
          </a:xfrm>
          <a:prstGeom xmlns:a="http://schemas.openxmlformats.org/drawingml/2006/main" prst="roundRect">
            <a:avLst>
              <a:gd name="adj" fmla="val 10435"/>
            </a:avLst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23B46"/>
              </a:gs>
            </a:gsLst>
            <a:lin ang="10800000"/>
          </a:gradFill>
          <a:ln xmlns:a="http://schemas.openxmlformats.org/drawingml/2006/main" w="9525">
            <a:solidFill>
              <a:srgbClr val="19B99A">
                <a:alpha val="3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AAD10-8245-4730-80B8-BD1A3ED8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57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组合原则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4CB68-C36E-49D4-9504-862F9F8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D6FF8-7479-4448-955A-1D06BA9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0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2E38D-60CD-479E-B74E-7AFD3921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7177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按小切片售卖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38B81E-FC6A-4D84-A601-9072471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0C96E-D9A0-4A59-8C15-21F8B79B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385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按版本组合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D968F-633D-4DD7-825B-DF5C2CC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3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5C365-E1E5-498F-BA52-FBD185F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0527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核心契约稳定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D84F96-5F63-4DEA-A789-008D45DD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00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2F1BC8-AA45-4CA7-B723-BD12EC4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7202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客户配置不侵入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2AE2C-CE29-47BA-A1FD-52B6CBB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5467350"/>
            <a:ext cx="1771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4000"/>
            </a:srgbClr>
          </a:solidFill>
          <a:ln xmlns:a="http://schemas.openxmlformats.org/drawingml/2006/main" w="9525">
            <a:solidFill>
              <a:srgbClr val="F3C76C">
                <a:alpha val="3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AA458B-BEEA-4284-BC2E-8296F7E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7687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一个内核，多个可售业务切片</a:t>
            </a:r>
          </a:p>
        </p:txBody>
      </p:sp>
    </p:spTree>
    <p:extLst>
      <p:ext uri="{BB962C8B-B14F-4D97-AF65-F5344CB8AC3E}">
        <p14:creationId xmlns:p14="http://schemas.microsoft.com/office/powerpoint/2010/main" val="342927609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658CD-24FA-4D5E-A112-02C639A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ED8F0-D27F-4549-A000-1368016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A8140-C3BA-4F2E-950E-A3DFEDB8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81D55-A5F3-49F8-9139-7295091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3D224-E29C-4B9C-B4B4-A3DB8A7D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先验证一条真实灯塔链，再复制扩展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AA8C3-0C55-40CB-B7C2-7E9EF49A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降低上线风险的关键不是做更多功能，而是让一条真实业务链先闭环。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BFF32-67E2-4C53-B4CB-E25C863D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2BF8D-5A06-4A69-A2FC-4897F64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3AECE-2420-4040-9289-635574B6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38648-E3B8-4312-875B-DCEA0F44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7338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3FFD1-42DA-472E-B486-58BBB1C8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422B2-30DF-495C-A6A1-6813D3C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选择切片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27A24-70A0-4B6F-9AA1-29A7F46A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唯一站点、客户/品牌协议、产品类别、市场版本、主技术包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70F81-89CC-4867-A815-D9DB574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600450"/>
            <a:ext cx="1981200" cy="1943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79FE5-4843-4C31-A3FB-BAA5366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F4F35-7218-4C0E-844C-55F6EF3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14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冻结基线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CDE03-4832-4BD0-8FB0-86E871C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14850"/>
            <a:ext cx="163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用最近 3—6 个月真实订单</a:t>
            </a:r>
          </a:p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定义现状与成功门槛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433A8-B01A-4587-B5A4-05CAFEEC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467100"/>
            <a:ext cx="2095500" cy="20764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5CA43-34B9-4646-8347-A7032E0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89984-C842-4726-8E82-7A4175D4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配置与对账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B27AD-6EC7-44FE-9F20-0045F94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8150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主数据、规则、样品、方法、报告逐项验证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D7E51-E0A7-4656-B8D2-6F1F7C5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333750"/>
            <a:ext cx="22098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D9C3E-5034-41F4-9223-36B063C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8D301-AC19-47BD-A432-0DCFA4D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影子运行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33E43-5B60-431F-B01C-30DC9B1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866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与现行流程并跑，比较结果、交期和异常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8AC94-820E-48B5-94BF-D7C9B109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200400"/>
            <a:ext cx="2324100" cy="23431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B2B36"/>
          </a:solidFill>
          <a:ln xmlns:a="http://schemas.openxmlformats.org/drawingml/2006/main" w="19050">
            <a:solidFill>
              <a:srgbClr val="19B99A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15AF7-03F1-406D-9FD6-9850C534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875C0-BE27-493E-A960-4D209B1C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小流量切换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CAEAB-B596-4957-97EF-C3A05257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981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受控上线，满足退出条件</a:t>
            </a:r>
          </a:p>
          <a:p xmlns:a="http://schemas.openxmlformats.org/drawingml/2006/main">
            <a:pPr algn="l">
              <a:defRPr sz="105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后再复制扩量</a:t>
            </a:r>
          </a:p>
        </p:txBody>
      </p: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476500" y="4572000"/>
            <a:ext cx="171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2000"/>
              </a:srgbClr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629150" y="4505325"/>
            <a:ext cx="171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2000"/>
              </a:srgbClr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6896100" y="4438650"/>
            <a:ext cx="171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2000"/>
              </a:srgbClr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9277350" y="4371975"/>
            <a:ext cx="17145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B99A">
                <a:alpha val="42000"/>
              </a:srgbClr>
            </a:solidFill>
            <a:prstDash val="solid"/>
            <a:head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C067E-8ED9-4FD7-A30B-9B52AF5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46672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25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A2C13-6D6D-478B-BD1D-1A211505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真实证据包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5FC56-22A8-42CB-B11B-95425875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最近 3—6 个月订单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EE090-ADD5-457E-9253-98FBE011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≥20 个常规场景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06102-175F-45F7-A27C-5A018384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≥10 个异常场景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7147C8-0EAC-458D-B1C6-48FBC9B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1790700"/>
            <a:ext cx="601980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F3C76C">
                <a:alpha val="36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4D6CA4-91BE-4E94-BAA3-720860BC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首发范围口径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D1B671-7C9C-4275-89BD-2C590E7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一个站点 · 一个付费灯塔客户或品牌协议 · 一个产品类别 · 一个市场/协议版本 · 一个主技术包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7B2459-0B7C-436C-BF4C-6075540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626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1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方法数量不预设，以真实订单 Pareto 最小方法集为准</a:t>
            </a:r>
          </a:p>
        </p:txBody>
      </p:sp>
    </p:spTree>
    <p:extLst>
      <p:ext uri="{BB962C8B-B14F-4D97-AF65-F5344CB8AC3E}">
        <p14:creationId xmlns:p14="http://schemas.microsoft.com/office/powerpoint/2010/main" val="1967872258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74000">
              <a:srgbClr val="F3F7F7"/>
            </a:gs>
            <a:gs pos="100000">
              <a:srgbClr val="E8F3F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D880A4-B18B-491C-9E8A-8C5C087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14000"/>
                </a:srgbClr>
              </a:gs>
              <a:gs pos="74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0E673-F61F-4C8D-AC2A-2C03B48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0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99E4-FBAB-4ADF-8AEA-B67240DB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19B99A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E282-4DB5-4613-807D-7AC35A7F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系统边界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72475-6989-42F2-A61E-02D31E31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聚焦 LIMS 核心，不重复替代企业系统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12D2C-B9C8-4480-9F38-8C121E4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边界清晰意味着投入更小、上线更快、组织阻力更低。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CC9C6-23B9-486B-9A0F-ECD532F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34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25940-84C7-401C-B1C3-5539104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69369-A05C-42DE-AE6B-0118C89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F72D4-6C72-49A4-82F5-414947B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076450"/>
            <a:ext cx="3543300" cy="2800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B2B36"/>
              </a:gs>
              <a:gs pos="100000">
                <a:srgbClr val="103845"/>
              </a:gs>
            </a:gsLst>
            <a:lin ang="8100000"/>
          </a:gradFill>
          <a:ln xmlns:a="http://schemas.openxmlformats.org/drawingml/2006/main" w="19050">
            <a:solidFill>
              <a:srgbClr val="19B99A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C6336-9B4D-4E18-A677-913B664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OpenLIMS 主责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76F66-D256-49B9-A3A4-7F10E68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480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报价范围 · 样品 · 任务</a:t>
            </a:r>
          </a:p>
          <a:p xmlns:a="http://schemas.openxmlformats.org/drawingml/2006/main">
            <a:pPr algn="ctr">
              <a:defRPr sz="1425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>
                    <a:alpha val="76000"/>
                  </a:srgbClr>
                </a:solidFill>
                <a:latin typeface="Microsoft YaHei"/>
                <a:ea typeface="Microsoft YaHei"/>
                <a:cs typeface="Microsoft YaHei"/>
              </a:rPr>
              <a:t>结果 · 报告 · 计费事实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4B0F6-9D9C-4D69-A5ED-D53AFF3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09575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8000"/>
            </a:srgbClr>
          </a:solidFill>
          <a:ln xmlns:a="http://schemas.openxmlformats.org/drawingml/2006/main" w="9525">
            <a:solidFill>
              <a:srgbClr val="55D6E8">
                <a:alpha val="2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A42C5-713B-4A23-A5F3-7384C23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受控检测闭环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E3B07-2CC2-43B8-92FC-BCE0F046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057400"/>
            <a:ext cx="238125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EE3D0-B3DE-4BDE-9DD9-2EC48491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ERP / 税票平台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2CF23-ECDF-4061-8AB0-DBF675F4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财务权威记录</a:t>
            </a:r>
          </a:p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法定发票与总账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162300" y="2638425"/>
            <a:ext cx="116205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34">
                <a:alpha val="26000"/>
              </a:srgbClr>
            </a:solidFill>
            <a:prstDash val="dash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DC543-BB8E-4076-9434-71185D8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057400"/>
            <a:ext cx="238125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DFF4F7"/>
          </a:solidFill>
          <a:ln xmlns:a="http://schemas.openxmlformats.org/drawingml/2006/main" w="9525">
            <a:solidFill>
              <a:srgbClr val="147C8B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D7B32-B78E-4175-9BEF-D6EE6C3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7C8B"/>
                </a:solidFill>
                <a:latin typeface="Microsoft YaHei"/>
                <a:ea typeface="Microsoft YaHei"/>
                <a:cs typeface="Microsoft YaHei"/>
              </a:rPr>
              <a:t>PLM / PDM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47176-7914-4A3A-A38E-58B21FA6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工程 BOM</a:t>
            </a:r>
          </a:p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图纸主版本</a:t>
            </a:r>
          </a:p>
        </p:txBody>
      </p:sp>
      <p:cxnSp>
        <p:nvCxnSpPr>
          <p:cNvPr id="57" name=""/>
          <p:cNvCxnSpPr>
            <a:stCxn xmlns:a="http://schemas.openxmlformats.org/drawingml/2006/main" id="1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7867650" y="2638425"/>
            <a:ext cx="116205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34">
                <a:alpha val="26000"/>
              </a:srgbClr>
            </a:solidFill>
            <a:prstDash val="dash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CA9B8-B80B-49BF-9D75-22CE748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886200"/>
            <a:ext cx="238125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DDF5ED"/>
          </a:solidFill>
          <a:ln xmlns:a="http://schemas.openxmlformats.org/drawingml/2006/main" w="9525">
            <a:solidFill>
              <a:srgbClr val="0F8E80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51647-6D95-417E-9834-02531D7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8E80"/>
                </a:solidFill>
                <a:latin typeface="Microsoft YaHei"/>
                <a:ea typeface="Microsoft YaHei"/>
                <a:cs typeface="Microsoft YaHei"/>
              </a:rPr>
              <a:t>仪器 / CDS / DAQ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F59BC-B77C-4F87-A0F8-8646A6A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设备控制</a:t>
            </a:r>
          </a:p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高频原生数据</a:t>
            </a:r>
          </a:p>
        </p:txBody>
      </p:sp>
      <p:cxnSp>
        <p:nvCxnSpPr>
          <p:cNvPr id="61" name=""/>
          <p:cNvCxnSpPr>
            <a:stCxn xmlns:a="http://schemas.openxmlformats.org/drawingml/2006/main" id="23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3162300" y="3476625"/>
            <a:ext cx="116205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34">
                <a:alpha val="26000"/>
              </a:srgbClr>
            </a:solidFill>
            <a:prstDash val="dash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DC4CC-FE3E-4B70-8C5C-21C4DD0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886200"/>
            <a:ext cx="238125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E7E1"/>
          </a:solidFill>
          <a:ln xmlns:a="http://schemas.openxmlformats.org/drawingml/2006/main" w="9525">
            <a:solidFill>
              <a:srgbClr val="B84E38">
                <a:alpha val="2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39D10-E75C-4384-9773-C24F285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57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84E38"/>
                </a:solidFill>
                <a:latin typeface="Microsoft YaHei"/>
                <a:ea typeface="Microsoft YaHei"/>
                <a:cs typeface="Microsoft YaHei"/>
              </a:rPr>
              <a:t>外部权威流程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CD712-A9CD-4092-AFA2-DE29C0DB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386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全面评估 / 声明</a:t>
            </a:r>
          </a:p>
          <a:p xmlns:a="http://schemas.openxmlformats.org/drawingml/2006/main">
            <a:pPr algn="ctr">
              <a:def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47A84"/>
                </a:solidFill>
                <a:latin typeface="Microsoft YaHei"/>
                <a:ea typeface="Microsoft YaHei"/>
                <a:cs typeface="Microsoft YaHei"/>
              </a:rPr>
              <a:t>认证或证书</a:t>
            </a:r>
          </a:p>
        </p:txBody>
      </p:sp>
      <p:cxnSp>
        <p:nvCxnSpPr>
          <p:cNvPr id="65" name=""/>
          <p:cNvCxnSpPr>
            <a:stCxn xmlns:a="http://schemas.openxmlformats.org/drawingml/2006/main" id="27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7867650" y="3476625"/>
            <a:ext cx="116205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02A34">
                <a:alpha val="26000"/>
              </a:srgbClr>
            </a:solidFill>
            <a:prstDash val="dash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89A45-7150-4972-B803-2DDCD34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67350"/>
            <a:ext cx="109728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7C6D3-BBBC-4CE8-8C36-CCA501F6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8B72"/>
                </a:solidFill>
                <a:latin typeface="Microsoft YaHei"/>
                <a:ea typeface="Microsoft YaHei"/>
                <a:cs typeface="Microsoft YaHei"/>
              </a:rPr>
              <a:t>首期不建设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BC221E-AF55-4E3F-8B7B-14584722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9117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A34"/>
                </a:solidFill>
                <a:latin typeface="Microsoft YaHei"/>
                <a:ea typeface="Microsoft YaHei"/>
                <a:cs typeface="Microsoft YaHei"/>
              </a:rPr>
              <a:t>总账 · 通用 ELN · 完整 QMS · PLM · 高级 APS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22DCF-15EA-428C-A4E8-D87B412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619750"/>
            <a:ext cx="2609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F3C76C">
                <a:alpha val="36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E37ED-B1B0-490F-8955-21EE2D4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292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接口按试点批准条件启用</a:t>
            </a:r>
          </a:p>
        </p:txBody>
      </p:sp>
    </p:spTree>
    <p:extLst>
      <p:ext uri="{BB962C8B-B14F-4D97-AF65-F5344CB8AC3E}">
        <p14:creationId xmlns:p14="http://schemas.microsoft.com/office/powerpoint/2010/main" val="566900097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40E63-73FC-41DF-A312-08FD374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BC78C-17F5-40B0-AA5A-CBE170C8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AB0A3-658E-4CFB-9350-D75BB5E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C6D8-50D5-4CC7-A659-C6A9CDF7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7ECEA-59BC-4AE4-8349-A1210308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D0031-6AD3-46CD-9212-A5EEFFAD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试点成效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B35F-9EC8-4AC5-A166-B68B94B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用冻结基线后的可验证改善说话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C7CC1-7521-45AF-BF58-FE0D4F5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以下均为试点目标，不代表既有业绩；最终门槛在基线冻结后共同批准。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F60F4-D85A-457A-907A-35C77A36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368ED-361E-4A7F-98DA-61F23B1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OPENLIMS  /  MANAGEMENT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6386D-1CEE-47FF-983B-459EE8CA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301E8-980B-48E8-81EB-04038EB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9545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4000"/>
            </a:srgbClr>
          </a:solidFill>
          <a:ln xmlns:a="http://schemas.openxmlformats.org/drawingml/2006/main" w="9525">
            <a:solidFill>
              <a:srgbClr val="F3C76C">
                <a:alpha val="3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4FF60-D13B-4FDC-8327-FAD006A6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试点目标｜冻结基线后验证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7AE56-5C1E-4BE7-8BBB-A5D77674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效率改善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823BD-F2AA-45BC-B668-6EE0E2E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质量护栏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9380-EFCE-43FC-A916-5283ACD7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45F9A-A384-48BD-BC32-9550F7FC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≥30%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967D1-4DA0-4EB0-B4E3-0DC9F4A8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高频询价技术评估时间下降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9E44E-DD2F-43F3-B4BA-E0F2E10D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首次报价正确率不得下降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AB7F-36E2-4A0F-8EED-CF6D51C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5C028-4932-4585-8BAE-07B2BD2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≥30%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32BB9-18FB-4757-AD4E-BA61BDB2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内部范围 / 样品错误变更率下降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F97E8-1B9E-4DBE-8AE6-1CB5FAB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957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以正式报价后变更为口径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79D02-F846-45F0-B447-8B96D40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E4CB6-EFE8-4764-A2D5-0D17896A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≥30%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C1760-38C2-4A79-8E31-335F018E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053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复核完成至提交签发时间下降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17435-3B2B-4173-AD14-ADD39F5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863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内部错误更正率不得上升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D6AE6-F0F0-4A13-A1A1-E05D303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35FEFF-2F6E-4D1E-81B9-D68E0944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已签发结果追溯完整率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A253B-0500-4842-80D5-6F5060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要求到报告无歧义回放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89F6E-9A9C-4B0E-821A-0DB8ABC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FD9BB-EC7F-4C65-8483-FD245B13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DFD1D-7283-4F07-8345-49B7AE53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运行可审计率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8CC42-72B2-4CB8-8DEB-C37436F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AI 越权事件为零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C4ACC-F571-472D-9116-C716C69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28BAC8-AE40-460E-8DEF-1F54E187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FBED80-1856-4291-B450-2590E41F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系统允许的关键违规事件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928039-7495-488F-8DC4-44F7C13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86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错样 / 无批准覆盖 / 过期规则 / 超授权签发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B7280-C2F5-4C0C-B6CA-82692508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10250"/>
            <a:ext cx="10972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E4F52-DDCC-435A-B7AF-1892D1A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基线、口径、数据来源与例外必须在试点启动前冻结，改善结果由双方共同复核。</a:t>
            </a:r>
          </a:p>
        </p:txBody>
      </p:sp>
    </p:spTree>
    <p:extLst>
      <p:ext uri="{BB962C8B-B14F-4D97-AF65-F5344CB8AC3E}">
        <p14:creationId xmlns:p14="http://schemas.microsoft.com/office/powerpoint/2010/main" val="570614252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722"/>
            </a:gs>
            <a:gs pos="58000">
              <a:srgbClr val="0B2B36"/>
            </a:gs>
            <a:gs pos="100000">
              <a:srgbClr val="0C3A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18909-F041-431D-B35D-C485EDD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5D6E8">
                  <a:alpha val="20000"/>
                </a:srgbClr>
              </a:gs>
              <a:gs pos="72000">
                <a:srgbClr val="55D6E8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DE88C-5FE5-4604-B142-FDC4709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>
                  <a:alpha val="15000"/>
                </a:srgbClr>
              </a:gs>
              <a:gs pos="74000">
                <a:srgbClr val="19B9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1E007-65BB-4A4B-BFE7-45996CB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376D-768A-46B9-B26B-F6EDA6C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FF02C-16E2-4D6A-8FB6-DC8F463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99A">
              <a:alpha val="16000"/>
            </a:srgbClr>
          </a:solidFill>
          <a:ln xmlns:a="http://schemas.openxmlformats.org/drawingml/2006/main" w="9525">
            <a:solidFill>
              <a:srgbClr val="55D6E8">
                <a:alpha val="2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F8D8-EC7E-471E-A1AA-2BECF356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管理层决策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FE47-E5A8-44C4-B61A-189B5F4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76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现在需要批准的不是大项目，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而是一个受控灯塔试点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B36C2-2CE2-4DE3-8113-9A35AB9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四项决定足以启动联合评审，也足以在证据不足时做出 No-Go。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6CD02-5BA3-48F0-B2A2-2B2218C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952750"/>
            <a:ext cx="226695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4D226-B166-4438-8A6F-3F102C93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6A9C4-F142-4B36-93B1-DEE6C96D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唯一试点切片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3AAF8-5829-4E15-AB50-724FC81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站点 · 客户/品牌协议</a:t>
            </a:r>
          </a:p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产品类别 · 市场版本 · 主技术包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DE2E6-E39B-46D0-852C-2F3EFC4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2952750"/>
            <a:ext cx="226695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69120-48C7-4C3B-B6E8-E3EAC9B7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B5D02-5CD9-4378-BBC9-5E06A287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真实业务基线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69C96-0FE5-4B33-B98A-F00C0FC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订单 · 报价 · 样品</a:t>
            </a:r>
          </a:p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原始证据 · 报告 · 异常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4A838-BC16-4F42-AC36-C00ADA71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48200"/>
            <a:ext cx="226695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024FF-4BF2-435D-90A4-35C878C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4B2AF-67DA-4D4C-912A-4F819C7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共同负责人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817D3-B552-4D17-A9D3-E94F1A9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业务 · 实验室技术</a:t>
            </a:r>
          </a:p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质量 · IT / 架构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BDBA9-8F82-46D9-82E2-2F1032BC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4648200"/>
            <a:ext cx="226695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976A7-8F8F-4420-B8AD-D80A3EB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5D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84C5B-EE21-4187-A312-C9B4BBF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成功与退出门槛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4C903-ED12-4AF6-B657-14BA4182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86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OTIF-R · 效率 · 错误率</a:t>
            </a:r>
          </a:p>
          <a:p xmlns:a="http://schemas.openxmlformats.org/drawingml/2006/main">
            <a:pPr algn="l">
              <a:def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56000"/>
                  </a:srgbClr>
                </a:solidFill>
                <a:latin typeface="Microsoft YaHei"/>
                <a:ea typeface="Microsoft YaHei"/>
                <a:cs typeface="Microsoft YaHei"/>
              </a:rPr>
              <a:t>追溯 · 上线退出条件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55E01-6CC0-4FDF-BC24-C9299DC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705100"/>
            <a:ext cx="3733800" cy="2876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9B99A"/>
              </a:gs>
              <a:gs pos="56000">
                <a:srgbClr val="0F8E80"/>
              </a:gs>
              <a:gs pos="100000">
                <a:srgbClr val="0B2B36"/>
              </a:gs>
            </a:gsLst>
            <a:path path="shape"/>
          </a:gradFill>
          <a:ln xmlns:a="http://schemas.openxmlformats.org/drawingml/2006/main" w="19050">
            <a:solidFill>
              <a:srgbClr val="55D6E8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E6034-3F53-4344-8472-314FBF8F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灯塔试点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76863-9333-4EB5-A02B-A96E36A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A2110-4BB9-4936-8471-0CC569D7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725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基于证据批准，而非基于想象承诺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2952750" y="3648075"/>
            <a:ext cx="413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D6E8">
                <a:alpha val="30000"/>
              </a:srgbClr>
            </a:solidFill>
            <a:prstDash val="solid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5486400" y="3648075"/>
            <a:ext cx="160020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D6E8">
                <a:alpha val="30000"/>
              </a:srgbClr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2952750" y="4143375"/>
            <a:ext cx="41338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D6E8">
                <a:alpha val="30000"/>
              </a:srgbClr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5486400" y="4143375"/>
            <a:ext cx="160020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D6E8">
                <a:alpha val="30000"/>
              </a:srgbClr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9DF7A-3317-4B1D-B4D2-4827780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5791200"/>
            <a:ext cx="3352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76C">
              <a:alpha val="14000"/>
            </a:srgbClr>
          </a:solidFill>
          <a:ln xmlns:a="http://schemas.openxmlformats.org/drawingml/2006/main" w="9525">
            <a:solidFill>
              <a:srgbClr val="F3C76C">
                <a:alpha val="38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53FD08-B519-48FD-970B-20AA81E8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8007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3C76C"/>
                </a:solidFill>
                <a:latin typeface="Microsoft YaHei"/>
                <a:ea typeface="Microsoft YaHei"/>
                <a:cs typeface="Microsoft YaHei"/>
              </a:rPr>
              <a:t>批准进入联合评审与试点立项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2F9202-78E3-41D7-8C6E-E582F51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rPr>
              <a:t>OpenLIMS  ·  让每一份承诺都能被正确执行、完整证明、按期交付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89C8E-11E5-461E-82EC-BC4B033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>
                    <a:alpha val="44000"/>
                  </a:srgbClr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3009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2026-07-22T12:28:46.9830000Z</dcterms:created>
  <dcterms:modified xsi:type="dcterms:W3CDTF">2026-07-22T12:28:46.9830000Z</dcterms:modified>
</coreProperties>
</file>