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1463040"/>
            <a:ext cx="2194560" cy="2194560"/>
          </a:xfrm>
          <a:prstGeom prst="ellipse">
            <a:avLst/>
          </a:prstGeom>
          <a:solidFill>
            <a:srgbClr val="00B4D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72300" y="1668780"/>
            <a:ext cx="1783080" cy="178308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1874520"/>
            <a:ext cx="1371600" cy="1371600"/>
          </a:xfrm>
          <a:prstGeom prst="ellipse">
            <a:avLst/>
          </a:prstGeom>
          <a:solidFill>
            <a:srgbClr val="00B4D8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83780" y="2080260"/>
            <a:ext cx="960120" cy="96012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286000"/>
            <a:ext cx="548640" cy="548640"/>
          </a:xfrm>
          <a:prstGeom prst="ellipse">
            <a:avLst/>
          </a:prstGeom>
          <a:solidFill>
            <a:srgbClr val="00B4D8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54696" y="2423160"/>
            <a:ext cx="18288" cy="274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7726680" y="2551176"/>
            <a:ext cx="27432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457200"/>
            <a:ext cx="365760" cy="365760"/>
          </a:xfrm>
          <a:prstGeom prst="rect">
            <a:avLst>
              <a:gd name="adj" fmla="val 15000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Testing Platform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005840"/>
            <a:ext cx="36576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|  PRODUCT  |  MANAGEMENT  BRIEFING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057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第三方产品检测 LIMS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Rule-driven, AI-augmented Laboratory Information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让每一次检测都可追溯 / 可信赖 / 可复用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594360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面向实验室负责人与运营管理者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v1.1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 |  Contents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本场推介的四个章节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从行业挑战到落地路线, 聚焦 LIMS 真正的差异化价值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406908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103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1417320" y="2148840"/>
            <a:ext cx="18288" cy="82296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2450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Insight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27249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第三方检测机构面临的真实痛点, 以及这些痛点如何影响效率 / 合规与品牌信任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920240"/>
            <a:ext cx="406908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103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20" name="Shape 18"/>
          <p:cNvSpPr/>
          <p:nvPr/>
        </p:nvSpPr>
        <p:spPr>
          <a:xfrm>
            <a:off x="5577840" y="2148840"/>
            <a:ext cx="18288" cy="82296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产品定位与能力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0" y="2450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Capabilities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27249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我们是谁: 产品定位 / 平台架构 / 七大核心优势以及 AI 受控协作的边界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406908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5661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1417320" y="3611880"/>
            <a:ext cx="18288" cy="82296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55448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业务价值与保障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41879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可量化的运营收益 / 五行业能力矩阵 / 端到端业务闭环与 AI 治理降级保障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383280"/>
            <a:ext cx="406908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5661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32" name="Shape 30"/>
          <p:cNvSpPr/>
          <p:nvPr/>
        </p:nvSpPr>
        <p:spPr>
          <a:xfrm>
            <a:off x="5577840" y="3611880"/>
            <a:ext cx="18288" cy="82296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落地与展望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5000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Why 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41879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分阶段发布策略 / 试点选择逻辑以及选择我们的三个根本理由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|  行业洞察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PAIN 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第三方检测机构每天都在面对的三大挑战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它们正在悄悄吞噬效率 / 合规与客户信任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28800"/>
            <a:ext cx="274320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2880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2331720"/>
            <a:ext cx="502920" cy="502920"/>
          </a:xfrm>
          <a:prstGeom prst="rect">
            <a:avLst>
              <a:gd name="adj" fmla="val 14545"/>
            </a:avLst>
          </a:prstGeom>
          <a:solidFill>
            <a:srgbClr val="03045E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2441448"/>
            <a:ext cx="502920" cy="502920"/>
          </a:xfrm>
          <a:prstGeom prst="rect">
            <a:avLst>
              <a:gd name="adj" fmla="val 14545"/>
            </a:avLst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范围混乱, 重复返工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chaos &amp; rework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611880"/>
            <a:ext cx="27432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询价阶段资料不齐, 方案与样品需求反复改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客户勾选 / BOM / AI 候选与实际样品口径不一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范围一变, 报价 / 任务 / 报告 / 计费全线返工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274320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069080"/>
            <a:ext cx="54864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  </a:t>
            </a:r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首版正确率低, OTIF 压力大, 客户体验持续下滑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1828800"/>
            <a:ext cx="274320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182880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9040" y="2331720"/>
            <a:ext cx="502920" cy="502920"/>
          </a:xfrm>
          <a:prstGeom prst="rect">
            <a:avLst>
              <a:gd name="adj" fmla="val 14545"/>
            </a:avLst>
          </a:prstGeom>
          <a:solidFill>
            <a:srgbClr val="03045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58768" y="2441448"/>
            <a:ext cx="502920" cy="502920"/>
          </a:xfrm>
          <a:prstGeom prst="rect">
            <a:avLst>
              <a:gd name="adj" fmla="val 14545"/>
            </a:avLst>
          </a:prstGeom>
          <a:solidFill>
            <a:srgbClr val="00B4D8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661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数据孤岛, 追溯断链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6616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silos &amp; broken trace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66160" y="3611880"/>
            <a:ext cx="27432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 / 样品 / 原始数据 / 报告散落在多个系统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结果归属 / 采用链路 / 签名 / 版本关系脆弱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出问题需要花数天手工拼凑证据链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4069080"/>
            <a:ext cx="274320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4" name="Shape 32"/>
          <p:cNvSpPr/>
          <p:nvPr/>
        </p:nvSpPr>
        <p:spPr>
          <a:xfrm>
            <a:off x="3337560" y="4069080"/>
            <a:ext cx="54864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  </a:t>
            </a:r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复审成本高, 认可与合规风险不可见, 管理决策缺乏实时数据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1828800"/>
            <a:ext cx="274320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82880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Shape 36"/>
          <p:cNvSpPr/>
          <p:nvPr/>
        </p:nvSpPr>
        <p:spPr>
          <a:xfrm>
            <a:off x="6629400" y="2331720"/>
            <a:ext cx="502920" cy="502920"/>
          </a:xfrm>
          <a:prstGeom prst="rect">
            <a:avLst>
              <a:gd name="adj" fmla="val 14545"/>
            </a:avLst>
          </a:prstGeom>
          <a:solidFill>
            <a:srgbClr val="03045E"/>
          </a:solidFill>
          <a:ln/>
        </p:spPr>
      </p:sp>
      <p:sp>
        <p:nvSpPr>
          <p:cNvPr id="39" name="Shape 37"/>
          <p:cNvSpPr/>
          <p:nvPr/>
        </p:nvSpPr>
        <p:spPr>
          <a:xfrm>
            <a:off x="6739128" y="2441448"/>
            <a:ext cx="502920" cy="502920"/>
          </a:xfrm>
          <a:prstGeom prst="rect">
            <a:avLst>
              <a:gd name="adj" fmla="val 14545"/>
            </a:avLst>
          </a:prstGeom>
          <a:solidFill>
            <a:srgbClr val="00B4D8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465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与合规边界模糊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4652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compliance drift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46520" y="3611880"/>
            <a:ext cx="27432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推断与实验室事实混为一谈, 难以审计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标准更新 / 认可范围 / 客户指定版本易被误用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报告签发与会计收入经常被错误关联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4069080"/>
            <a:ext cx="274320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6" name="Shape 44"/>
          <p:cNvSpPr/>
          <p:nvPr/>
        </p:nvSpPr>
        <p:spPr>
          <a:xfrm>
            <a:off x="6217920" y="4069080"/>
            <a:ext cx="54864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  </a:t>
            </a:r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权威边界失守, 监管 / 客户审计下容易出现高代价的合规事件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|  产品定位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 &amp;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一套规则驱动, AI 协同的多行业 LIMS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以客户委托和合同 / 能力评审为起点, 以可追溯的检测证据和受控报告为终点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920240"/>
            <a:ext cx="5303520" cy="548640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121408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975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客户配置覆盖层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212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Configuration Overlay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542032"/>
            <a:ext cx="5303520" cy="548640"/>
          </a:xfrm>
          <a:prstGeom prst="rect">
            <a:avLst>
              <a:gd name="adj" fmla="val 13333"/>
            </a:avLst>
          </a:prstGeom>
          <a:solidFill>
            <a:srgbClr val="0096C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7432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5968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横向检测技术包  ×  纵向行业规则包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834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Packs (x6)  +  Industry Packs (x5)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163824"/>
            <a:ext cx="5303520" cy="54864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364992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平台内核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564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785616"/>
            <a:ext cx="5303520" cy="548640"/>
          </a:xfrm>
          <a:prstGeom prst="rect">
            <a:avLst>
              <a:gd name="adj" fmla="val 13333"/>
            </a:avLst>
          </a:prstGeom>
          <a:solidFill>
            <a:srgbClr val="D4AF3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986784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840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受控协作层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0782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Augmentation Layer (Governed)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为什么这样设计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2240280"/>
            <a:ext cx="3657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2377440"/>
            <a:ext cx="256032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37744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4231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一套内核, 五行业复用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2670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行业差异由行业包承载, 避免每加一个行业就重造一套 LIMS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108960"/>
            <a:ext cx="256032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10896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3154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客户差异不侵入内核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91072" y="3401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客户配置层只覆盖批准扩展点, 不修改核心算法 / 事实分类或状态机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840480"/>
            <a:ext cx="256032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84048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6291072" y="3886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永远只是协作层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91072" y="41330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出候选 / 出建议 / 出问题, 但事实 / 计算 / 判定 / 签发仍由规则与人承担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434840"/>
            <a:ext cx="8229600" cy="365760"/>
          </a:xfrm>
          <a:prstGeom prst="rect">
            <a:avLst>
              <a:gd name="adj" fmla="val 12500"/>
            </a:avLst>
          </a:prstGeom>
          <a:solidFill>
            <a:srgbClr val="F4F7FB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434840"/>
            <a:ext cx="54864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一句话: </a:t>
            </a:r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把第三方检测机构的多行业 / 多客户 / 多方法 / 多仪器场景, 收敛为可治理 / 可追溯 / 可降级的统一业务基线.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|  核心优势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DIFFERENTIATORS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七大差异化优势, 从一开始就设计不同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 受控检测范围 而非 识别产品图片, 是 LIMS 与传统 LIMS 的根本分水岭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2075688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502920" cy="292608"/>
          </a:xfrm>
          <a:prstGeom prst="rect">
            <a:avLst>
              <a:gd name="adj" fmla="val 15625"/>
            </a:avLst>
          </a:prstGeom>
          <a:solidFill>
            <a:srgbClr val="03045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74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222199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受控检测范围工作台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542032"/>
            <a:ext cx="2286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58775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TestScopeMatrix 把送检项 / 目标市场 / 要求条款 / 方法 / 限值 / 样品需求 / 代表性 / 价格 / 周期串成同一行 ID, 范围变更自动生成影响清单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96896" y="1874520"/>
            <a:ext cx="2075688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96896" y="1874520"/>
            <a:ext cx="502920" cy="292608"/>
          </a:xfrm>
          <a:prstGeom prst="rect">
            <a:avLst>
              <a:gd name="adj" fmla="val 15625"/>
            </a:avLst>
          </a:prstGeom>
          <a:solidFill>
            <a:srgbClr val="03045E"/>
          </a:solidFill>
          <a:ln/>
        </p:spPr>
      </p:sp>
      <p:sp>
        <p:nvSpPr>
          <p:cNvPr id="20" name="Text 18"/>
          <p:cNvSpPr/>
          <p:nvPr/>
        </p:nvSpPr>
        <p:spPr>
          <a:xfrm>
            <a:off x="2596896" y="1874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06624" y="222199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全链可追溯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06624" y="2542032"/>
            <a:ext cx="2286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2706624" y="258775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每个报告结果可重建到要求选择快照 / 范围行 / 贡献试样 / 原始证据 / 采用结果 / 判定规则, 链路不可循环 / 不可缺 / 不可伪造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36592" y="1874520"/>
            <a:ext cx="2075688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874520"/>
            <a:ext cx="502920" cy="292608"/>
          </a:xfrm>
          <a:prstGeom prst="rect">
            <a:avLst>
              <a:gd name="adj" fmla="val 15625"/>
            </a:avLst>
          </a:prstGeom>
          <a:solidFill>
            <a:srgbClr val="03045E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1874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22199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行级认可校验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542032"/>
            <a:ext cx="2286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58775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按报告行 x 实验室 x 方法版本 x 产品 / 基质 x 参数 / 量程 x 时间 x 签字人逐行校验, 机构级布尔值无法掩盖行级缺口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76288" y="1874520"/>
            <a:ext cx="2075688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76288" y="1874520"/>
            <a:ext cx="502920" cy="292608"/>
          </a:xfrm>
          <a:prstGeom prst="rect">
            <a:avLst>
              <a:gd name="adj" fmla="val 15625"/>
            </a:avLst>
          </a:prstGeom>
          <a:solidFill>
            <a:srgbClr val="03045E"/>
          </a:solidFill>
          <a:ln/>
        </p:spPr>
      </p:sp>
      <p:sp>
        <p:nvSpPr>
          <p:cNvPr id="32" name="Text 30"/>
          <p:cNvSpPr/>
          <p:nvPr/>
        </p:nvSpPr>
        <p:spPr>
          <a:xfrm>
            <a:off x="6876288" y="1874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86016" y="222199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受控协作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86016" y="2542032"/>
            <a:ext cx="2286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6986016" y="258775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输出永远是候选: 可弃权 / 可审计 / 可追溯. 它加速资料 / 提示缺口 / 生成草案, 但不能签发 / 改写数据或替代判定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355848"/>
            <a:ext cx="2075688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355848"/>
            <a:ext cx="502920" cy="292608"/>
          </a:xfrm>
          <a:prstGeom prst="rect">
            <a:avLst>
              <a:gd name="adj" fmla="val 15625"/>
            </a:avLst>
          </a:prstGeom>
          <a:solidFill>
            <a:srgbClr val="03045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3558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37033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平台内核 + 包扩展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4023360"/>
            <a:ext cx="2286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406908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一套内核承载 5 个行业包和 6 类技术包复用, 客户差异在批准扩展点内覆盖, 杜绝 每客户一套产品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96896" y="3355848"/>
            <a:ext cx="2075688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96896" y="3355848"/>
            <a:ext cx="502920" cy="292608"/>
          </a:xfrm>
          <a:prstGeom prst="rect">
            <a:avLst>
              <a:gd name="adj" fmla="val 15625"/>
            </a:avLst>
          </a:prstGeom>
          <a:solidFill>
            <a:srgbClr val="03045E"/>
          </a:solidFill>
          <a:ln/>
        </p:spPr>
      </p:sp>
      <p:sp>
        <p:nvSpPr>
          <p:cNvPr id="44" name="Text 42"/>
          <p:cNvSpPr/>
          <p:nvPr/>
        </p:nvSpPr>
        <p:spPr>
          <a:xfrm>
            <a:off x="2596896" y="33558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06624" y="37033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语义与物理分离建模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06624" y="4023360"/>
            <a:ext cx="2286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2706624" y="406908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产品语义结构与物理样品谱系独立表达: 覆盖决定 不等于 身份映射, 复合样 不等于 整件, 避免错配 / 错代表 / 误判定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36592" y="3355848"/>
            <a:ext cx="2075688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36592" y="3355848"/>
            <a:ext cx="502920" cy="292608"/>
          </a:xfrm>
          <a:prstGeom prst="rect">
            <a:avLst>
              <a:gd name="adj" fmla="val 15625"/>
            </a:avLst>
          </a:prstGeom>
          <a:solidFill>
            <a:srgbClr val="03045E"/>
          </a:solidFill>
          <a:ln/>
        </p:spPr>
      </p:sp>
      <p:sp>
        <p:nvSpPr>
          <p:cNvPr id="50" name="Text 48"/>
          <p:cNvSpPr/>
          <p:nvPr/>
        </p:nvSpPr>
        <p:spPr>
          <a:xfrm>
            <a:off x="4736592" y="33558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46320" y="37033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优雅降级与人工可持续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46320" y="4023360"/>
            <a:ext cx="2286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406908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服务或外部接口不可用时, 询价 / 范围 / 报价 / 收样 / 检测 / 复核 / 签发 / 计费仍可由人工完整跑通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76288" y="3355848"/>
            <a:ext cx="2075688" cy="1371600"/>
          </a:xfrm>
          <a:prstGeom prst="rect">
            <a:avLst>
              <a:gd name="adj" fmla="val 6667"/>
            </a:avLst>
          </a:prstGeom>
          <a:solidFill>
            <a:srgbClr val="03045E"/>
          </a:solidFill>
          <a:ln/>
        </p:spPr>
      </p:sp>
      <p:sp>
        <p:nvSpPr>
          <p:cNvPr id="55" name="Text 53"/>
          <p:cNvSpPr/>
          <p:nvPr/>
        </p:nvSpPr>
        <p:spPr>
          <a:xfrm>
            <a:off x="696772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013448" y="376732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013448" y="404164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  ·  协同  ·  可降级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13448" y="4270248"/>
            <a:ext cx="36576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9" name="Text 57"/>
          <p:cNvSpPr/>
          <p:nvPr/>
        </p:nvSpPr>
        <p:spPr>
          <a:xfrm>
            <a:off x="7013448" y="431596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更聪明的 LIMS, 而是把 AI 放在 协作层 而非 决策层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|  AI 受控协作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GOVERNED COLLABORATION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做什么 / 绝不做什么, 从一开始就说清楚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是受控协作层, 是加速器, 也是 永不越权 的事实守护者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406908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5E0E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4069080" cy="502920"/>
          </a:xfrm>
          <a:prstGeom prst="rect">
            <a:avLst>
              <a:gd name="adj" fmla="val 18182"/>
            </a:avLst>
          </a:prstGeom>
          <a:solidFill>
            <a:srgbClr val="0077B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40280"/>
            <a:ext cx="4069080" cy="1371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74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擅长的  ·  Accel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9080" y="198424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514600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客户资料字段抽取与图片质量检查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缺失信息识别与澄清问题建议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从受控知识库检索要求 / 套餐和方法候选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检测范围矩阵草案 / 样品需求风险与代表性提示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报告草稿生成与一致性检查 (不替签发)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运营风险 / 异常与差异摘要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在批准品类中提供 AI 近似报价 BOM (仅估价参考)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/ 客户规范版本差异摘要, 但不自动生效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1874520"/>
            <a:ext cx="406908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F4C7C3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874520"/>
            <a:ext cx="4069080" cy="502920"/>
          </a:xfrm>
          <a:prstGeom prst="rect">
            <a:avLst>
              <a:gd name="adj" fmla="val 18182"/>
            </a:avLst>
          </a:prstGeom>
          <a:solidFill>
            <a:srgbClr val="9E2A2B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2240280"/>
            <a:ext cx="4069080" cy="13716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874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绝不做的  ·  Boundary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198424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514600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签发报告 / 修改原始数据或审计日志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批准异常 / 复测 / 代表样或最不利配置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推断提升为验证事实 (高置信也不升)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执行开票 / 应收 / 收款分配 / 退款或 ERP 记账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用大模型替代受控公式 / 单位换算 / 限值比较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将检测报告表述为认证证书或全面法规合规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在未授权客户数据上检索或训练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✕"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最终决定法规适用性 / 认可范围 / 代表样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关键承诺: </a:t>
            </a:r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AI 运行可审计, AI 越权签发 / 改写原始数据 / 替代判定 / 执行财务 = 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|  行业能力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FIVE-INDUSTRY COVERAGE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五个行业包, 六类技术包, 共享一套内核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试点从单一行业切入, 业务边界与扩展契约从一开始就被锁住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1627632" cy="2697480"/>
          </a:xfrm>
          <a:prstGeom prst="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1627632" cy="777240"/>
          </a:xfrm>
          <a:prstGeom prst="rect">
            <a:avLst>
              <a:gd name="adj" fmla="val 11765"/>
            </a:avLst>
          </a:prstGeom>
          <a:solidFill>
            <a:srgbClr val="03045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14600"/>
            <a:ext cx="1627632" cy="1371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148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电子电器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范围维度  Scope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90779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产品族 / 型号差异 / HW FW / 供电 / 端口 / 模式 / 关键件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329184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执行模式  Mode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345643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受试配置快照 · EMC RF 安全 化学 可靠性 跨专业依赖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384048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交付结论  Output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4005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实际受试配置 / 专业声明 / 型号覆盖 / 限值线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30552" y="1874520"/>
            <a:ext cx="1627632" cy="2697480"/>
          </a:xfrm>
          <a:prstGeom prst="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30552" y="1874520"/>
            <a:ext cx="1627632" cy="777240"/>
          </a:xfrm>
          <a:prstGeom prst="rect">
            <a:avLst>
              <a:gd name="adj" fmla="val 11765"/>
            </a:avLst>
          </a:prstGeom>
          <a:solidFill>
            <a:srgbClr val="0077B6"/>
          </a:solidFill>
          <a:ln/>
        </p:spPr>
      </p:sp>
      <p:sp>
        <p:nvSpPr>
          <p:cNvPr id="26" name="Shape 24"/>
          <p:cNvSpPr/>
          <p:nvPr/>
        </p:nvSpPr>
        <p:spPr>
          <a:xfrm>
            <a:off x="2130552" y="2514600"/>
            <a:ext cx="1627632" cy="1371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2267712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67712" y="2148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67712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食品接触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40280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范围维度  Scope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40280" y="290779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制品 / 材料 层 涂层 / 接触面 / 用途 / 食品类型 / 面积 体积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40280" y="329184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执行模式  Mode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240280" y="345643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迁移暴露 · 迁移液 / 分析份 · 制备 / 分析批 · 稳定期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40280" y="384048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交付结论  Output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40280" y="4005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接触条件 · LOQ LOD · 单项 / 已测范围结论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03904" y="1874520"/>
            <a:ext cx="1627632" cy="2697480"/>
          </a:xfrm>
          <a:prstGeom prst="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03904" y="1874520"/>
            <a:ext cx="1627632" cy="777240"/>
          </a:xfrm>
          <a:prstGeom prst="rect">
            <a:avLst>
              <a:gd name="adj" fmla="val 11765"/>
            </a:avLst>
          </a:prstGeom>
          <a:solidFill>
            <a:srgbClr val="00B4D8"/>
          </a:solidFill>
          <a:ln/>
        </p:spPr>
      </p:sp>
      <p:sp>
        <p:nvSpPr>
          <p:cNvPr id="38" name="Shape 36"/>
          <p:cNvSpPr/>
          <p:nvPr/>
        </p:nvSpPr>
        <p:spPr>
          <a:xfrm>
            <a:off x="3803904" y="2514600"/>
            <a:ext cx="1627632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3941064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41064" y="2148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41064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玩具婴童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13632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范围维度  Scope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913632" y="290779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产品分类 / 年龄 / 用途 / 变体 / 可接触部件 / 危险域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13632" y="329184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执行模式  Mode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913632" y="345643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测试单元 · 预处理 · 使用滥用顺序 · 状态检查点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913632" y="384048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交付结论  Output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913632" y="4005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 · 试验阶段 · 危险域覆盖 · 标签审查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77256" y="1874520"/>
            <a:ext cx="1627632" cy="2697480"/>
          </a:xfrm>
          <a:prstGeom prst="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77256" y="1874520"/>
            <a:ext cx="1627632" cy="777240"/>
          </a:xfrm>
          <a:prstGeom prst="rect">
            <a:avLst>
              <a:gd name="adj" fmla="val 11765"/>
            </a:avLst>
          </a:prstGeom>
          <a:solidFill>
            <a:srgbClr val="0096C7"/>
          </a:solidFill>
          <a:ln/>
        </p:spPr>
      </p:sp>
      <p:sp>
        <p:nvSpPr>
          <p:cNvPr id="50" name="Shape 48"/>
          <p:cNvSpPr/>
          <p:nvPr/>
        </p:nvSpPr>
        <p:spPr>
          <a:xfrm>
            <a:off x="5477256" y="2514600"/>
            <a:ext cx="1627632" cy="1371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1" name="Text 49"/>
          <p:cNvSpPr/>
          <p:nvPr/>
        </p:nvSpPr>
        <p:spPr>
          <a:xfrm>
            <a:off x="5614416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14416" y="2148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14416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纺织品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586984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范围维度  Scope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586984" y="290779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 / 色 / 尺码 / 批次 / 部件 / 材料 / 部位 / 目标市场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586984" y="329184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执行模式  Mode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586984" y="345643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裁样方向 / 尺寸 / 数量 · 调湿 / 洗涤 · 物理 / 色牢度 / 化学批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586984" y="384048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交付结论  Output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86984" y="4005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款色部件 · 覆盖范围 · 客户限值 · 行级认可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150608" y="1874520"/>
            <a:ext cx="1627632" cy="2697480"/>
          </a:xfrm>
          <a:prstGeom prst="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150608" y="1874520"/>
            <a:ext cx="1627632" cy="777240"/>
          </a:xfrm>
          <a:prstGeom prst="rect">
            <a:avLst>
              <a:gd name="adj" fmla="val 11765"/>
            </a:avLst>
          </a:prstGeom>
          <a:solidFill>
            <a:srgbClr val="023E8A"/>
          </a:solidFill>
          <a:ln/>
        </p:spPr>
      </p:sp>
      <p:sp>
        <p:nvSpPr>
          <p:cNvPr id="62" name="Shape 60"/>
          <p:cNvSpPr/>
          <p:nvPr/>
        </p:nvSpPr>
        <p:spPr>
          <a:xfrm>
            <a:off x="7150608" y="2514600"/>
            <a:ext cx="1627632" cy="1371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63" name="Text 61"/>
          <p:cNvSpPr/>
          <p:nvPr/>
        </p:nvSpPr>
        <p:spPr>
          <a:xfrm>
            <a:off x="7287768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87768" y="2148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87768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汽车零件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260336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范围维度  Scope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260336" y="290779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 / 项目 / 车型平台 / 零件 / HW SW / 标定 / 供应商 / DVP&amp;R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260336" y="329184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执行模式  Mode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260336" y="345643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样件组 · 试验序列 DAG · 工装 线束 负载 · 阶段检查 · 中断 恢复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260336" y="384048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交付结论  Output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260336" y="4005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要求-样件-运行-证据-结论-偏离闭环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57200" y="4663440"/>
            <a:ext cx="8229600" cy="292608"/>
          </a:xfrm>
          <a:prstGeom prst="rect">
            <a:avLst>
              <a:gd name="adj" fmla="val 15625"/>
            </a:avLst>
          </a:prstGeom>
          <a:solidFill>
            <a:srgbClr val="F4F7FB"/>
          </a:solidFill>
          <a:ln/>
        </p:spPr>
      </p:sp>
      <p:sp>
        <p:nvSpPr>
          <p:cNvPr id="73" name="Shape 71"/>
          <p:cNvSpPr/>
          <p:nvPr/>
        </p:nvSpPr>
        <p:spPr>
          <a:xfrm>
            <a:off x="457200" y="4663440"/>
            <a:ext cx="54864" cy="2926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4" name="Text 72"/>
          <p:cNvSpPr/>
          <p:nvPr/>
        </p:nvSpPr>
        <p:spPr>
          <a:xfrm>
            <a:off x="640080" y="46634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首期试点推荐: </a:t>
            </a:r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纺织品 为默认推荐切片; 若存在付费意愿更强的灯塔客户, 可重新评分替代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|  端到端业务闭环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从一份询价到一份可签发报告, 全程受控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个关键节点, 一条贯穿委托 - 检测 - 报告 - 计费的统一业务基线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761488"/>
            <a:ext cx="8503920" cy="45720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4924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4" name="Shape 12"/>
          <p:cNvSpPr/>
          <p:nvPr/>
        </p:nvSpPr>
        <p:spPr>
          <a:xfrm>
            <a:off x="589788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036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资料采集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85316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0180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440180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4148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8428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实验室·方法·认可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35708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290572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2290572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345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范围矩阵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8882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TestScope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86100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0964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3140964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8493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正式报价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9212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冻结范围与价格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36492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34" name="Shape 32"/>
          <p:cNvSpPr/>
          <p:nvPr/>
        </p:nvSpPr>
        <p:spPr>
          <a:xfrm>
            <a:off x="3991356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3991356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35324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收样身份评估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9604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隔离·映射·分样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86884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1748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4841748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85716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检测计划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39996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批次·资源·分配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37276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44" name="Shape 42"/>
          <p:cNvSpPr/>
          <p:nvPr/>
        </p:nvSpPr>
        <p:spPr>
          <a:xfrm>
            <a:off x="5692140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5692140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36108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检测与QC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90388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原始数据·采用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87668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49" name="Shape 47"/>
          <p:cNvSpPr/>
          <p:nvPr/>
        </p:nvSpPr>
        <p:spPr>
          <a:xfrm>
            <a:off x="6542532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6542532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865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复核判定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407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符合性·代表性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38060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54" name="Shape 52"/>
          <p:cNvSpPr/>
          <p:nvPr/>
        </p:nvSpPr>
        <p:spPr>
          <a:xfrm>
            <a:off x="7392924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5" name="Text 53"/>
          <p:cNvSpPr/>
          <p:nvPr/>
        </p:nvSpPr>
        <p:spPr>
          <a:xfrm>
            <a:off x="7392924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13689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报告签发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91172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行级认可·签名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188452" y="251460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59" name="Shape 57"/>
          <p:cNvSpPr/>
          <p:nvPr/>
        </p:nvSpPr>
        <p:spPr>
          <a:xfrm>
            <a:off x="8243316" y="25694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0" name="Text 58"/>
          <p:cNvSpPr/>
          <p:nvPr/>
        </p:nvSpPr>
        <p:spPr>
          <a:xfrm>
            <a:off x="8243316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987284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计费交付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41564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证据·交接·关闭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7200" y="3657600"/>
            <a:ext cx="8229600" cy="457200"/>
          </a:xfrm>
          <a:prstGeom prst="rect">
            <a:avLst>
              <a:gd name="adj" fmla="val 12000"/>
            </a:avLst>
          </a:prstGeom>
          <a:solidFill>
            <a:srgbClr val="F4F7FB"/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协同  AI Touchpoints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19456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资料抽取  ·  缺口提示  ·  范围草案  ·  方案候选  ·  报告一致性  ·  异常摘要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4297680"/>
            <a:ext cx="269748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429768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8" name="Text 66"/>
          <p:cNvSpPr/>
          <p:nvPr/>
        </p:nvSpPr>
        <p:spPr>
          <a:xfrm>
            <a:off x="621792" y="4343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范围即基线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21792" y="4544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范围行 ID 在询价 / 收样 / 计划 / 结果 / 报告 / 计费之间一致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223260" y="4297680"/>
            <a:ext cx="269748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23260" y="429768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2" name="Text 70"/>
          <p:cNvSpPr/>
          <p:nvPr/>
        </p:nvSpPr>
        <p:spPr>
          <a:xfrm>
            <a:off x="3387852" y="4343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证据即追溯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3387852" y="4544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每个报告结果可逐层重建到要求快照 / 原始证据与签字人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989320" y="4297680"/>
            <a:ext cx="269748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9320" y="429768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6" name="Text 74"/>
          <p:cNvSpPr/>
          <p:nvPr/>
        </p:nvSpPr>
        <p:spPr>
          <a:xfrm>
            <a:off x="6153912" y="4343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可降级闭环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153912" y="4544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或外部接口不可用时, 全流程仍由人工完整跑通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|  平台与扩展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EXTENSIBILITY &amp; GOVERNANCE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可治理的扩展边界: 哪里能变, 哪里永远不变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稳定性来自清晰边界, 灵活性来自严格的扩展契约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2011680"/>
            <a:ext cx="4023360" cy="2560320"/>
          </a:xfrm>
          <a:prstGeom prst="ellipse">
            <a:avLst/>
          </a:prstGeom>
          <a:solidFill>
            <a:srgbClr val="CDEA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331720"/>
            <a:ext cx="3017520" cy="1920240"/>
          </a:xfrm>
          <a:prstGeom prst="ellipse">
            <a:avLst/>
          </a:prstGeom>
          <a:solidFill>
            <a:srgbClr val="8FCD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2651760"/>
            <a:ext cx="2011680" cy="128016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· 不变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Platform  ·  平台内核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011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+ Technical Packs  ·  行业 / 技术包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" y="1737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 Configuration Overlay  ·  客户配置覆盖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39319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11680"/>
            <a:ext cx="73152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客户协议 / 报告品牌 / 字段映射 / 套餐 / 价格 / SLA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670048"/>
            <a:ext cx="39319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70048"/>
            <a:ext cx="73152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715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 (受控)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944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新行业包 / 新技术包 / 跨包组合 (须经兼容性矩阵与回归验证)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328416"/>
            <a:ext cx="39319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328416"/>
            <a:ext cx="73152" cy="5943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3741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条件启用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商业运营包 (运营应收 / 银行核销 / 客户对账) 按客户战略启用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986784"/>
            <a:ext cx="39319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86784"/>
            <a:ext cx="73152" cy="59436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032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永不动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261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核心事实分类 / 物理谱系语义 / 结果采用 / 状态机 / 审计链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8229600" cy="292608"/>
          </a:xfrm>
          <a:prstGeom prst="rect">
            <a:avLst>
              <a:gd name="adj" fmla="val 15625"/>
            </a:avLst>
          </a:prstGeom>
          <a:solidFill>
            <a:srgbClr val="F4F7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663440"/>
            <a:ext cx="54864" cy="2926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6634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版本化交付: </a:t>
            </a:r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每个行业包 / 技术包 / 客户配置都声明所兼容的内核契约版本, 不兼容组合不得启用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|  业务价值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MEASURABLE OUTCOMES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给管理者的可量化价值: 从试用到签发, 全都有数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目标值为承诺基线, 试点验证后再冻结为正式 KPI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201168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84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&gt;= 30%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94360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询价中位时间下降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首次报价正确率不下降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32888" y="1874520"/>
            <a:ext cx="201168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32888" y="187452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2624328" y="1984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&gt;= 30%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670048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 / 样品遗漏变更下降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70048" y="27614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报价后内部错误驱动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874520"/>
            <a:ext cx="201168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187452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1984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745736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结果全链可追溯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45736" y="27614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签发报告逐行重建链路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84264" y="1874520"/>
            <a:ext cx="201168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84264" y="187452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775704" y="1984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821424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越权 / 错样 / 错配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21424" y="27614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上线范围内事件清零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154680"/>
            <a:ext cx="1554480" cy="2286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54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业务领域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154680"/>
            <a:ext cx="2834640" cy="2286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5" name="Text 33"/>
          <p:cNvSpPr/>
          <p:nvPr/>
        </p:nvSpPr>
        <p:spPr>
          <a:xfrm>
            <a:off x="2103120" y="31546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154680"/>
            <a:ext cx="1554480" cy="2286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154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目标改进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3154680"/>
            <a:ext cx="2286000" cy="2286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31546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可观测口径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15544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383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询价与报价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11680" y="338328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0" y="33832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高频套餐中位技术评估时间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383280"/>
            <a:ext cx="15544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383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 &gt;= 30%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0" y="3383280"/>
            <a:ext cx="2286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383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询价工单时间戳 + 报价版本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611880"/>
            <a:ext cx="155448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范围与样品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011680" y="3611880"/>
            <a:ext cx="283464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0" y="36118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 / 样品需求错误变更率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611880"/>
            <a:ext cx="155448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 &gt;= 30%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0" y="3611880"/>
            <a:ext cx="228600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36118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 + 变更原因分类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3840480"/>
            <a:ext cx="15544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3840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报告处理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011680" y="384048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03120" y="38404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结果复核完成到提交签发中位时间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46320" y="3840480"/>
            <a:ext cx="15544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3840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 &gt;= 30%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00800" y="3840480"/>
            <a:ext cx="2286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3840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复核通过 -&gt; 签发时间戳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069080"/>
            <a:ext cx="155448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0690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011680" y="4069080"/>
            <a:ext cx="283464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03120" y="4069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已签发报告一次通过率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46320" y="4069080"/>
            <a:ext cx="155448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0" y="40690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显著提升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00800" y="4069080"/>
            <a:ext cx="228600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40690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签发后更正率反向衡量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4297680"/>
            <a:ext cx="15544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4297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合规与认可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011680" y="429768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03120" y="42976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过期 / 未批准规则自动用于新单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846320" y="4297680"/>
            <a:ext cx="15544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0" y="4297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清零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400800" y="4297680"/>
            <a:ext cx="2286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92240" y="42976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受控版本应用审计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4526280"/>
            <a:ext cx="155448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4526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平台可靠性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011680" y="4526280"/>
            <a:ext cx="283464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03120" y="45262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核心业务月度可用性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846320" y="4526280"/>
            <a:ext cx="155448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37760" y="4526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99.9%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400800" y="4526280"/>
            <a:ext cx="2286000" cy="2286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92240" y="4526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可用性监控 + SLA 排除项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57200" y="4736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数值取自产品需求文档 GOAL-001 ~ GOAL-010; 试点基线冻结后正式生效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|  治理与降级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 &amp; DEGRADATION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治理 + 系统降级: 让业务永远跑得动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给老板的两颗定心丸: AI 不会越权, 系统不会因为外部依赖停摆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406908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4069080" cy="502920"/>
          </a:xfrm>
          <a:prstGeom prst="rect">
            <a:avLst>
              <a:gd name="adj" fmla="val 18182"/>
            </a:avLst>
          </a:prstGeom>
          <a:solidFill>
            <a:srgbClr val="03045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40280"/>
            <a:ext cx="4069080" cy="1371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74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治理  ·  Governance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5511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51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743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RunId / 输入哈希 / 来源 / 置信 / 警告 / 建议动作; 非法模式时失败关闭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0815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0449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事实类别不变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2735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推断 / 人工接受不自动升级为 VERIFIED_FACT; 高置信也不升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5753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提示注入防护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8039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指令与数据分离 / 租户级过滤 / 密钥不入模型 / 注入测试常态化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414223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1056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可审计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334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运行产生追加式审计事件, 模型 / 提示 / 路由变化触发回归验证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1874520"/>
            <a:ext cx="406908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1874520"/>
            <a:ext cx="4069080" cy="502920"/>
          </a:xfrm>
          <a:prstGeom prst="rect">
            <a:avLst>
              <a:gd name="adj" fmla="val 18182"/>
            </a:avLst>
          </a:prstGeom>
          <a:solidFill>
            <a:srgbClr val="0077B6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7720" y="2240280"/>
            <a:ext cx="4069080" cy="1371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1874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降级保障  ·  Degradation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00600" y="2551176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551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25146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服务不可用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2743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 / 范围 / 报价 / 收样 / 检测 / 复核 / 签发 / 计费全部可人工完成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08152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30449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外部接口失败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32735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/ 税票 / 银行接口幂等 + 重试 + 差异队列, 不回退业务事实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611880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35753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关键岗位缺位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74920" y="38039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授权矩阵 + 累计金额审批 + 反拆单控制 + 移动应急审批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4142232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74920" y="41056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系统级事件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74920" y="4334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RPO &lt;= 15 分钟, RTO &lt;= 4 小时, 可用性 99.9%, 恢复后全链校验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709160"/>
            <a:ext cx="8229600" cy="274320"/>
          </a:xfrm>
          <a:prstGeom prst="rect">
            <a:avLst>
              <a:gd name="adj" fmla="val 16667"/>
            </a:avLst>
          </a:prstGeom>
          <a:solidFill>
            <a:srgbClr val="F4F7FB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4709160"/>
            <a:ext cx="54864" cy="274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709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底线承诺: </a:t>
            </a:r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即便关闭全部 AI 与外部集成, 业务仍能在 24 小时内以人工方式继续运转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|  路线图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ROADMAP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分阶段发布: 先用最小切片跑通真实闭环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试点先于五行业全量, 验证关口先于全面铺开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87168"/>
            <a:ext cx="822960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651760"/>
            <a:ext cx="19659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651760"/>
            <a:ext cx="19659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1580" y="2267712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6" name="Text 14"/>
          <p:cNvSpPr/>
          <p:nvPr/>
        </p:nvSpPr>
        <p:spPr>
          <a:xfrm>
            <a:off x="12115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T0 - T+1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领域与控制底座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48740" y="3337560"/>
            <a:ext cx="27432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832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多实验室兼容数据模型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/ 审计 / 电子签名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行业包扩展契约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 + 事务发件箱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2651760"/>
            <a:ext cx="19659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0" y="2651760"/>
            <a:ext cx="19659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3268980" y="2267712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4" name="Text 22"/>
          <p:cNvSpPr/>
          <p:nvPr/>
        </p:nvSpPr>
        <p:spPr>
          <a:xfrm>
            <a:off x="32689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27432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T+1 - T+3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最小检测与商业闭环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06140" y="3337560"/>
            <a:ext cx="27432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3832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默认纺织品试点切片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 + 批量 + 基础仪器接入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行级认可 + 报告签发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唯一计费事实 + 条件 ERP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2651760"/>
            <a:ext cx="19659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651760"/>
            <a:ext cx="19659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5326380" y="2267712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32" name="Text 30"/>
          <p:cNvSpPr/>
          <p:nvPr/>
        </p:nvSpPr>
        <p:spPr>
          <a:xfrm>
            <a:off x="53263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R1.x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27432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T+3 - T+5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候选行业扩展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63540" y="3337560"/>
            <a:ext cx="27432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3832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玩具婴童 (按灯塔评分)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食品接触 (按灯塔评分)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客户门户 + 批量送检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更多高频仪器适配器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75120" y="2651760"/>
            <a:ext cx="19659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75120" y="2651760"/>
            <a:ext cx="19659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Shape 37"/>
          <p:cNvSpPr/>
          <p:nvPr/>
        </p:nvSpPr>
        <p:spPr>
          <a:xfrm>
            <a:off x="7383780" y="2267712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40" name="Text 38"/>
          <p:cNvSpPr/>
          <p:nvPr/>
        </p:nvSpPr>
        <p:spPr>
          <a:xfrm>
            <a:off x="73837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20840" y="27432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T+5 - T+9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2084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 + 汽车可验收切片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20940" y="3337560"/>
            <a:ext cx="27432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33832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2E-CHEM / SAFETY / EMC / RF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2A-MATERIAL / ENV / EMC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多实验室 · 多币种 · 多语言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 AI 监控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160520"/>
            <a:ext cx="8229600" cy="594360"/>
          </a:xfrm>
          <a:prstGeom prst="rect">
            <a:avLst>
              <a:gd name="adj" fmla="val 9231"/>
            </a:avLst>
          </a:prstGeom>
          <a:solidFill>
            <a:srgbClr val="F4F7FB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160520"/>
            <a:ext cx="73152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上线关口  ·  Gate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4434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个真实常规场景 + 10 个异常场景  |  19 节适用关口全部通过  |  10 个未来适配架构场景  |  影子运行与小流量切换对账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 R1 默认推荐纺织品试点; R1.A / R1.B 不预先固定先后, 按灯塔客户机会评分决定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8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LIMS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8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Lab Management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为什么选择我们? 三个根本理由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我们不是把通用 LIMS 包装成行业方案, 而是从第一天就为受控检测而设计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2743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94360" y="2514600"/>
            <a:ext cx="457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把范围当成一等公民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受控检测范围矩阵 不是功能清单里的一行, 而是把要求 / 方法 / 限值 / 样品 / 代表性 / 价格 / 周期 / 报告锁在同一个行 ID 里. 范围一变, 全线影响自动可见.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874520"/>
            <a:ext cx="2743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3474720" y="2514600"/>
            <a:ext cx="457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永远站在旁边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017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抽取资料 / 提示缺口 / 生成草案 / 做一致性检查; 事实 / 计算 / 判定 / 签发 / 计费由规则与人承担. 不签发 · 不改写 · 不越权 · 不替代人.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874520"/>
            <a:ext cx="2743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A2A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6355080" y="2514600"/>
            <a:ext cx="457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业务优先 · 优雅降级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017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先在一个行业 / 一种产品类别 / 一类客户协议里跑通真实闭环, 再用受控扩展契约外推. 关掉 AI 和外部集成, 业务仍然跑得动.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229600" cy="777240"/>
          </a:xfrm>
          <a:prstGeom prst="rect">
            <a:avLst>
              <a:gd name="adj" fmla="val 11765"/>
            </a:avLst>
          </a:prstGeom>
          <a:solidFill>
            <a:srgbClr val="03045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069080"/>
            <a:ext cx="91440" cy="7772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感谢您的耐心阅读  ·  期待与您共建下一代 LIMS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 ·  Next Step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4361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产品团队  product@lims-ai.example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试点合作  pilot@lims-ai.example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工作时间  周一至周五 9:00 - 18:00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736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924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AI-Native LIMS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Third-Party Testing LIMS - Business Briefing</dc:title>
  <dc:subject>Business &amp; Management Briefing</dc:subject>
  <dc:creator>Mavis</dc:creator>
  <cp:lastModifiedBy>Mavis</cp:lastModifiedBy>
  <cp:revision>1</cp:revision>
  <dcterms:created xsi:type="dcterms:W3CDTF">2026-07-22T12:06:58Z</dcterms:created>
  <dcterms:modified xsi:type="dcterms:W3CDTF">2026-07-22T12:06:58Z</dcterms:modified>
</cp:coreProperties>
</file>